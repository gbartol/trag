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[Bartol] Good morning. We are three students from the University of Zagreb: mathematics, chemical engineering and mechanical engineering. TRAG checks whether the amounts of waste that treatment plants report each year are physically possible. In the next seven minutes we will show the problem, how the method works, and first results on real Croatian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[Marin] Waste fraud follows a simple pattern. A company is paid to accept waste, reports it as recycled, and then stores, buries or dumps it. When the company disappears, taxpayers pay for the clean-up. EU estimates say 15 to 30 percent of waste shipments may be illegal, worth up to 9.5 billion euros a year. Before the semi-final: confirm the exact source of these two figures so you can name it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[Marin] This is a real case. A licensed plant in Gospić reported that it treated 15,574 tonnes of plastic waste in 2023, and that only 19 tonnes of residual waste came out. Then it stopped reporting. Waste piled up on site and part of it was moved to an unlicensed location. A criminal investigation started in February 2025. All three numbers on this slide were public. Nobody checked whether they were physically possible. We present this as a known public case, not as our accusation.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[Bartol] TRAG starts from one rule of physics: what enters a plant must leave as product or waste, stay in stock, or be lost in the process. On top of that we run four checks: mass balance, cross-checks between trading partners, physical feasibility and chemical feasibility. Paper can be made consistent, so we compare the results with sources that are hard to fake: satellite images of stockpiles, financial statements and permit history. The result is always a deviation to verify, never an accusation.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[Bartol] This is our first demo, built only from public data. We took every plant in Croatia that reported recycling plastic waste code 19 12 04 in 2023. There are 13. On the horizontal axis is how much they treated, on the vertical axis how much residual waste they reported, as a share of input. Gospić is the largest and by far the lowest: 0.12 percent. The next lowest plant reports 1.7 percent, fourteen times more. Important: the code does not know which plant is suspicious. It ranks all of them, and Gospić comes out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[Roko] A low ratio alone is not proof, because real recyclers sell their product and the register does not record it. So we built a process model. For each plant we look at what kind of plastic came in: clean industrial scrap, sorted packaging, or residues from other sorting plants. Each type has an expected share of residue. For sorted packaging this comes from JRC measurements in European recycling plants; the other ranges are our estimates, and we test them with a strict and a lenient scenario. Gospić reports 80 to 245 times less residue than the lowest expected value, depending on the scenario. One more plant is below the range and needs checking. The other six are inside the range or within the uncertainty of the model. The other plants are shown without names because a deviation is a reason to verify, not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[Marin] Tools for parts of this problem exist. Electronic consignment notes record every transfer but do not check whether the numbers are possible. Satellite projects such as PERIVALLON at Politecnico di Milano find illegal dumps, but cannot say which plant's books do not close. Material flow software is used for one-off research. We have not found a tool that combines all three for continuous monitoring. Satellite companies are potential partners for us, not only competitors: TRAG tells them where to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[Roko] Who would use this? Inspection authorities first: new Croatian law introduces risk-based inspections, and TRAG is a risk ranking. Banks and insurers that issue guarantees for waste operators carry the loss when a site is abandoned. Cement plants buy waste-derived fuel and need to trust their suppliers. Waste producers and foreign shippers are legally responsible for where their waste ends up. We deliberately do not sell to the plants we monitor. During the student phase there is no revenue; the prices in our business plan are hypotheses to test with these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[Bartol] The prototype takes twelve months, from November to October. We start with the data pipeline for 2015 to 2025 and, in the first month, a request to the Ministry for the non-public parts of the register: stocks, transfers between partners and exports. Then screening, the plastics process model, satellite time series and field checks. Before anything is shared, we validate the ranking on known cases such as revoked permits, inspection findings and court decisions. The first ranked list for Croatia is planned for October 2027. The prototype costs about five thousand euros, mostly for independent evidence: a drone and high-resolution satellite images. Our own work is unpaid and the core data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[Roko] Croatia is our test market, about 450 treatment sites. Every EU member state keeps a similar register, and since May 2026 cross-border shipments go through the electronic DIWASS system, so the method transfers. The same engine also works for other waste streams: electronics, tyres, batteries, solvents and sewage sludge. Our next steps are the request for non-public register data, validation on known cases, and running all years from 2015. [Bartol] Thank you. We are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B2A31"/>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580"/>
            <a:ext cx="10566400" cy="4480620"/>
          </a:xfrm>
          <a:prstGeom prst="rect">
            <a:avLst/>
          </a:prstGeom>
          <a:noFill/>
          <a:ln/>
        </p:spPr>
        <p:txBody>
          <a:bodyPr wrap="square" lIns="0" tIns="0" rIns="0" bIns="0" rtlCol="0" anchor="t"/>
          <a:lstStyle>
            <a:lvl1pPr algn="l" indent="0" marL="0">
              <a:lnSpc>
                <a:spcPct val="140000"/>
              </a:lnSpc>
              <a:buNone/>
              <a:defRPr lang="en-US" sz="1600" dirty="0">
                <a:solidFill>
                  <a:srgbClr val="1B2A3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B2A31"/>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580"/>
            <a:ext cx="10566400" cy="4480620"/>
          </a:xfrm>
          <a:prstGeom prst="rect">
            <a:avLst/>
          </a:prstGeom>
          <a:noFill/>
          <a:ln/>
        </p:spPr>
        <p:txBody>
          <a:bodyPr wrap="square" lIns="0" tIns="0" rIns="0" bIns="0" rtlCol="0" anchor="t"/>
          <a:lstStyle>
            <a:lvl1pPr algn="l" indent="0" marL="0">
              <a:lnSpc>
                <a:spcPct val="140000"/>
              </a:lnSpc>
              <a:buNone/>
              <a:defRPr lang="en-US" sz="1600" dirty="0">
                <a:solidFill>
                  <a:srgbClr val="1B2A3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2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F08A5D"/>
                </a:solidFill>
                <a:latin typeface="IBM Plex Mono" pitchFamily="49" charset="0"/>
                <a:ea typeface="IBM Plex Mono" pitchFamily="49" charset="-122"/>
                <a:cs typeface="IBM Plex Mono" pitchFamily="49" charset="-120"/>
              </a:rPr>
              <a:t>EUREKA IIEC 2026 · SEMI-FINAL</a:t>
            </a:r>
            <a:endParaRPr lang="en-US" sz="1400" dirty="0"/>
          </a:p>
        </p:txBody>
      </p:sp>
      <p:sp>
        <p:nvSpPr>
          <p:cNvPr id="3" name="Text 1"/>
          <p:cNvSpPr/>
          <p:nvPr>
            <p:ph type="title"/>
          </p:nvPr>
        </p:nvSpPr>
        <p:spPr>
          <a:xfrm>
            <a:off x="812800" y="2113359"/>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i="0" spc="-200" kern="0" dirty="0">
                <a:solidFill>
                  <a:srgbClr val="F3F1EA"/>
                </a:solidFill>
                <a:latin typeface="IBM Plex Sans" pitchFamily="34" charset="0"/>
                <a:ea typeface="IBM Plex Sans" pitchFamily="34" charset="-122"/>
                <a:cs typeface="IBM Plex Sans" pitchFamily="34" charset="-120"/>
              </a:rPr>
              <a:t>TRAG</a:t>
            </a:r>
            <a:endParaRPr lang="en-US" sz="10000" dirty="0"/>
          </a:p>
        </p:txBody>
      </p:sp>
      <p:sp>
        <p:nvSpPr>
          <p:cNvPr id="4" name="Text 2"/>
          <p:cNvSpPr/>
          <p:nvPr/>
        </p:nvSpPr>
        <p:spPr>
          <a:xfrm>
            <a:off x="812800" y="3586559"/>
            <a:ext cx="8502650" cy="878681"/>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F3F1EA"/>
                </a:solidFill>
                <a:latin typeface="IBM Plex Sans" pitchFamily="34" charset="0"/>
                <a:ea typeface="IBM Plex Sans" pitchFamily="34" charset="-122"/>
                <a:cs typeface="IBM Plex Sans" pitchFamily="34" charset="-120"/>
              </a:rPr>
              <a:t>Checking whether reported waste flows are physically possible</a:t>
            </a:r>
            <a:endParaRPr lang="en-US" sz="2800" dirty="0"/>
          </a:p>
        </p:txBody>
      </p:sp>
      <p:sp>
        <p:nvSpPr>
          <p:cNvPr id="5" name="Text 3"/>
          <p:cNvSpPr/>
          <p:nvPr/>
        </p:nvSpPr>
        <p:spPr>
          <a:xfrm>
            <a:off x="812800" y="5491559"/>
            <a:ext cx="249949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1EA"/>
                </a:solidFill>
                <a:latin typeface="IBM Plex Sans" pitchFamily="34" charset="0"/>
                <a:ea typeface="IBM Plex Sans" pitchFamily="34" charset="-122"/>
                <a:cs typeface="IBM Plex Sans" pitchFamily="34" charset="-120"/>
              </a:rPr>
              <a:t>Bartol Gracin</a:t>
            </a:r>
            <a:endParaRPr lang="en-US" sz="1600" dirty="0"/>
          </a:p>
        </p:txBody>
      </p:sp>
      <p:sp>
        <p:nvSpPr>
          <p:cNvPr id="6" name="Text 4"/>
          <p:cNvSpPr/>
          <p:nvPr/>
        </p:nvSpPr>
        <p:spPr>
          <a:xfrm>
            <a:off x="812800" y="5814120"/>
            <a:ext cx="291203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7BD"/>
                </a:solidFill>
                <a:latin typeface="IBM Plex Sans" pitchFamily="34" charset="0"/>
                <a:ea typeface="IBM Plex Sans" pitchFamily="34" charset="-122"/>
                <a:cs typeface="IBM Plex Sans" pitchFamily="34" charset="-120"/>
              </a:rPr>
              <a:t>Mathematics · Faculty of Science</a:t>
            </a:r>
            <a:endParaRPr lang="en-US" sz="1300" dirty="0"/>
          </a:p>
        </p:txBody>
      </p:sp>
      <p:sp>
        <p:nvSpPr>
          <p:cNvPr id="7" name="Text 5"/>
          <p:cNvSpPr/>
          <p:nvPr/>
        </p:nvSpPr>
        <p:spPr>
          <a:xfrm>
            <a:off x="3849092" y="5491559"/>
            <a:ext cx="214886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1EA"/>
                </a:solidFill>
                <a:latin typeface="IBM Plex Sans" pitchFamily="34" charset="0"/>
                <a:ea typeface="IBM Plex Sans" pitchFamily="34" charset="-122"/>
                <a:cs typeface="IBM Plex Sans" pitchFamily="34" charset="-120"/>
              </a:rPr>
              <a:t>Marin Gracin</a:t>
            </a:r>
            <a:endParaRPr lang="en-US" sz="1600" dirty="0"/>
          </a:p>
        </p:txBody>
      </p:sp>
      <p:sp>
        <p:nvSpPr>
          <p:cNvPr id="8" name="Text 6"/>
          <p:cNvSpPr/>
          <p:nvPr/>
        </p:nvSpPr>
        <p:spPr>
          <a:xfrm>
            <a:off x="3849092" y="5814120"/>
            <a:ext cx="25035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7BD"/>
                </a:solidFill>
                <a:latin typeface="IBM Plex Sans" pitchFamily="34" charset="0"/>
                <a:ea typeface="IBM Plex Sans" pitchFamily="34" charset="-122"/>
                <a:cs typeface="IBM Plex Sans" pitchFamily="34" charset="-120"/>
              </a:rPr>
              <a:t>Chemical engineering · FKIT</a:t>
            </a:r>
            <a:endParaRPr lang="en-US" sz="1300" dirty="0"/>
          </a:p>
        </p:txBody>
      </p:sp>
      <p:sp>
        <p:nvSpPr>
          <p:cNvPr id="9" name="Text 7"/>
          <p:cNvSpPr/>
          <p:nvPr/>
        </p:nvSpPr>
        <p:spPr>
          <a:xfrm>
            <a:off x="6544965" y="5491559"/>
            <a:ext cx="224369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1EA"/>
                </a:solidFill>
                <a:latin typeface="IBM Plex Sans" pitchFamily="34" charset="0"/>
                <a:ea typeface="IBM Plex Sans" pitchFamily="34" charset="-122"/>
                <a:cs typeface="IBM Plex Sans" pitchFamily="34" charset="-120"/>
              </a:rPr>
              <a:t>Roko Rukavina</a:t>
            </a:r>
            <a:endParaRPr lang="en-US" sz="1600" dirty="0"/>
          </a:p>
        </p:txBody>
      </p:sp>
      <p:sp>
        <p:nvSpPr>
          <p:cNvPr id="10" name="Text 8"/>
          <p:cNvSpPr/>
          <p:nvPr/>
        </p:nvSpPr>
        <p:spPr>
          <a:xfrm>
            <a:off x="6544965" y="5814120"/>
            <a:ext cx="261401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7BD"/>
                </a:solidFill>
                <a:latin typeface="IBM Plex Sans" pitchFamily="34" charset="0"/>
                <a:ea typeface="IBM Plex Sans" pitchFamily="34" charset="-122"/>
                <a:cs typeface="IBM Plex Sans" pitchFamily="34" charset="-120"/>
              </a:rPr>
              <a:t>Mechanical engineering · FSB</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1"/>
                </a:solidFill>
                <a:latin typeface="IBM Plex Sans" pitchFamily="34" charset="0"/>
                <a:ea typeface="IBM Plex Sans" pitchFamily="34" charset="-122"/>
                <a:cs typeface="IBM Plex Sans" pitchFamily="34" charset="-120"/>
              </a:rPr>
              <a:t>How waste fraud works</a:t>
            </a:r>
            <a:endParaRPr lang="en-US" sz="3200" dirty="0"/>
          </a:p>
        </p:txBody>
      </p:sp>
      <p:sp>
        <p:nvSpPr>
          <p:cNvPr id="3" name="Shape 1"/>
          <p:cNvSpPr/>
          <p:nvPr/>
        </p:nvSpPr>
        <p:spPr>
          <a:xfrm>
            <a:off x="815975" y="1618555"/>
            <a:ext cx="3380284" cy="1878211"/>
          </a:xfrm>
          <a:prstGeom prst="roundRect">
            <a:avLst>
              <a:gd name="adj" fmla="val 5240"/>
            </a:avLst>
          </a:prstGeom>
          <a:solidFill>
            <a:srgbClr val="FBFAF6"/>
          </a:solidFill>
          <a:ln w="6350">
            <a:solidFill>
              <a:srgbClr val="D9D6CC"/>
            </a:solidFill>
            <a:prstDash val="solid"/>
          </a:ln>
        </p:spPr>
      </p:sp>
      <p:sp>
        <p:nvSpPr>
          <p:cNvPr id="4" name="Text 2"/>
          <p:cNvSpPr/>
          <p:nvPr/>
        </p:nvSpPr>
        <p:spPr>
          <a:xfrm>
            <a:off x="1123950" y="1926530"/>
            <a:ext cx="284726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4501F"/>
                </a:solidFill>
                <a:latin typeface="IBM Plex Mono" pitchFamily="49" charset="0"/>
                <a:ea typeface="IBM Plex Mono" pitchFamily="49" charset="-122"/>
                <a:cs typeface="IBM Plex Mono" pitchFamily="49" charset="-120"/>
              </a:rPr>
              <a:t>01</a:t>
            </a:r>
            <a:endParaRPr lang="en-US" sz="2000" dirty="0"/>
          </a:p>
        </p:txBody>
      </p:sp>
      <p:sp>
        <p:nvSpPr>
          <p:cNvPr id="5" name="Text 3"/>
          <p:cNvSpPr/>
          <p:nvPr/>
        </p:nvSpPr>
        <p:spPr>
          <a:xfrm>
            <a:off x="1123950" y="2358330"/>
            <a:ext cx="284726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31"/>
                </a:solidFill>
                <a:latin typeface="IBM Plex Sans" pitchFamily="34" charset="0"/>
                <a:ea typeface="IBM Plex Sans" pitchFamily="34" charset="-122"/>
                <a:cs typeface="IBM Plex Sans" pitchFamily="34" charset="-120"/>
              </a:rPr>
              <a:t>Paid to accept waste</a:t>
            </a:r>
            <a:endParaRPr lang="en-US" sz="1800" dirty="0"/>
          </a:p>
        </p:txBody>
      </p:sp>
      <p:sp>
        <p:nvSpPr>
          <p:cNvPr id="6" name="Text 4"/>
          <p:cNvSpPr/>
          <p:nvPr/>
        </p:nvSpPr>
        <p:spPr>
          <a:xfrm>
            <a:off x="1123950" y="2708771"/>
            <a:ext cx="284726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B72"/>
                </a:solidFill>
                <a:latin typeface="IBM Plex Sans" pitchFamily="34" charset="0"/>
                <a:ea typeface="IBM Plex Sans" pitchFamily="34" charset="-122"/>
                <a:cs typeface="IBM Plex Sans" pitchFamily="34" charset="-120"/>
              </a:rPr>
              <a:t>The operator earns a gate fee for every tonne it takes in.</a:t>
            </a:r>
            <a:endParaRPr lang="en-US" sz="1400" dirty="0"/>
          </a:p>
        </p:txBody>
      </p:sp>
      <p:sp>
        <p:nvSpPr>
          <p:cNvPr id="7" name="Shape 5"/>
          <p:cNvSpPr/>
          <p:nvPr/>
        </p:nvSpPr>
        <p:spPr>
          <a:xfrm>
            <a:off x="4405809" y="1618555"/>
            <a:ext cx="3380383" cy="1878211"/>
          </a:xfrm>
          <a:prstGeom prst="roundRect">
            <a:avLst>
              <a:gd name="adj" fmla="val 5240"/>
            </a:avLst>
          </a:prstGeom>
          <a:solidFill>
            <a:srgbClr val="FBFAF6"/>
          </a:solidFill>
          <a:ln w="6350">
            <a:solidFill>
              <a:srgbClr val="D9D6CC"/>
            </a:solidFill>
            <a:prstDash val="solid"/>
          </a:ln>
        </p:spPr>
      </p:sp>
      <p:sp>
        <p:nvSpPr>
          <p:cNvPr id="8" name="Text 6"/>
          <p:cNvSpPr/>
          <p:nvPr/>
        </p:nvSpPr>
        <p:spPr>
          <a:xfrm>
            <a:off x="4713784" y="1926530"/>
            <a:ext cx="2847366"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4501F"/>
                </a:solidFill>
                <a:latin typeface="IBM Plex Mono" pitchFamily="49" charset="0"/>
                <a:ea typeface="IBM Plex Mono" pitchFamily="49" charset="-122"/>
                <a:cs typeface="IBM Plex Mono" pitchFamily="49" charset="-120"/>
              </a:rPr>
              <a:t>02</a:t>
            </a:r>
            <a:endParaRPr lang="en-US" sz="2000" dirty="0"/>
          </a:p>
        </p:txBody>
      </p:sp>
      <p:sp>
        <p:nvSpPr>
          <p:cNvPr id="9" name="Text 7"/>
          <p:cNvSpPr/>
          <p:nvPr/>
        </p:nvSpPr>
        <p:spPr>
          <a:xfrm>
            <a:off x="4713784" y="2358330"/>
            <a:ext cx="284736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31"/>
                </a:solidFill>
                <a:latin typeface="IBM Plex Sans" pitchFamily="34" charset="0"/>
                <a:ea typeface="IBM Plex Sans" pitchFamily="34" charset="-122"/>
                <a:cs typeface="IBM Plex Sans" pitchFamily="34" charset="-120"/>
              </a:rPr>
              <a:t>Declared as recycled</a:t>
            </a:r>
            <a:endParaRPr lang="en-US" sz="1800" dirty="0"/>
          </a:p>
        </p:txBody>
      </p:sp>
      <p:sp>
        <p:nvSpPr>
          <p:cNvPr id="10" name="Text 8"/>
          <p:cNvSpPr/>
          <p:nvPr/>
        </p:nvSpPr>
        <p:spPr>
          <a:xfrm>
            <a:off x="4713784" y="2708771"/>
            <a:ext cx="284736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B72"/>
                </a:solidFill>
                <a:latin typeface="IBM Plex Sans" pitchFamily="34" charset="0"/>
                <a:ea typeface="IBM Plex Sans" pitchFamily="34" charset="-122"/>
                <a:cs typeface="IBM Plex Sans" pitchFamily="34" charset="-120"/>
              </a:rPr>
              <a:t>The waste is reported as treated, or as secondary raw material.</a:t>
            </a:r>
            <a:endParaRPr lang="en-US" sz="1400" dirty="0"/>
          </a:p>
        </p:txBody>
      </p:sp>
      <p:sp>
        <p:nvSpPr>
          <p:cNvPr id="11" name="Shape 9"/>
          <p:cNvSpPr/>
          <p:nvPr/>
        </p:nvSpPr>
        <p:spPr>
          <a:xfrm>
            <a:off x="7995741" y="1618555"/>
            <a:ext cx="3380284" cy="1878211"/>
          </a:xfrm>
          <a:prstGeom prst="roundRect">
            <a:avLst>
              <a:gd name="adj" fmla="val 5240"/>
            </a:avLst>
          </a:prstGeom>
          <a:solidFill>
            <a:srgbClr val="FBFAF6"/>
          </a:solidFill>
          <a:ln w="6350">
            <a:solidFill>
              <a:srgbClr val="D9D6CC"/>
            </a:solidFill>
            <a:prstDash val="solid"/>
          </a:ln>
        </p:spPr>
      </p:sp>
      <p:sp>
        <p:nvSpPr>
          <p:cNvPr id="12" name="Text 10"/>
          <p:cNvSpPr/>
          <p:nvPr/>
        </p:nvSpPr>
        <p:spPr>
          <a:xfrm>
            <a:off x="8303716" y="1926530"/>
            <a:ext cx="284726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4501F"/>
                </a:solidFill>
                <a:latin typeface="IBM Plex Mono" pitchFamily="49" charset="0"/>
                <a:ea typeface="IBM Plex Mono" pitchFamily="49" charset="-122"/>
                <a:cs typeface="IBM Plex Mono" pitchFamily="49" charset="-120"/>
              </a:rPr>
              <a:t>03</a:t>
            </a:r>
            <a:endParaRPr lang="en-US" sz="2000" dirty="0"/>
          </a:p>
        </p:txBody>
      </p:sp>
      <p:sp>
        <p:nvSpPr>
          <p:cNvPr id="13" name="Text 11"/>
          <p:cNvSpPr/>
          <p:nvPr/>
        </p:nvSpPr>
        <p:spPr>
          <a:xfrm>
            <a:off x="8303716" y="2358330"/>
            <a:ext cx="306913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31"/>
                </a:solidFill>
                <a:latin typeface="IBM Plex Sans" pitchFamily="34" charset="0"/>
                <a:ea typeface="IBM Plex Sans" pitchFamily="34" charset="-122"/>
                <a:cs typeface="IBM Plex Sans" pitchFamily="34" charset="-120"/>
              </a:rPr>
              <a:t>Stored, buried or dumped</a:t>
            </a:r>
            <a:endParaRPr lang="en-US" sz="1800" dirty="0"/>
          </a:p>
        </p:txBody>
      </p:sp>
      <p:sp>
        <p:nvSpPr>
          <p:cNvPr id="14" name="Text 12"/>
          <p:cNvSpPr/>
          <p:nvPr/>
        </p:nvSpPr>
        <p:spPr>
          <a:xfrm>
            <a:off x="8303716" y="2708771"/>
            <a:ext cx="284726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B72"/>
                </a:solidFill>
                <a:latin typeface="IBM Plex Sans" pitchFamily="34" charset="0"/>
                <a:ea typeface="IBM Plex Sans" pitchFamily="34" charset="-122"/>
                <a:cs typeface="IBM Plex Sans" pitchFamily="34" charset="-120"/>
              </a:rPr>
              <a:t>The site is abandoned and the public pays for the clean-up.</a:t>
            </a:r>
            <a:endParaRPr lang="en-US" sz="1400" dirty="0"/>
          </a:p>
        </p:txBody>
      </p:sp>
      <p:sp>
        <p:nvSpPr>
          <p:cNvPr id="15" name="Text 13"/>
          <p:cNvSpPr/>
          <p:nvPr/>
        </p:nvSpPr>
        <p:spPr>
          <a:xfrm>
            <a:off x="812800" y="3855541"/>
            <a:ext cx="304664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B2A31"/>
                </a:solidFill>
                <a:latin typeface="IBM Plex Sans" pitchFamily="34" charset="0"/>
                <a:ea typeface="IBM Plex Sans" pitchFamily="34" charset="-122"/>
                <a:cs typeface="IBM Plex Sans" pitchFamily="34" charset="-120"/>
              </a:rPr>
              <a:t>15–30%</a:t>
            </a:r>
            <a:endParaRPr lang="en-US" sz="4800" dirty="0"/>
          </a:p>
        </p:txBody>
      </p:sp>
      <p:sp>
        <p:nvSpPr>
          <p:cNvPr id="16" name="Text 14"/>
          <p:cNvSpPr/>
          <p:nvPr/>
        </p:nvSpPr>
        <p:spPr>
          <a:xfrm>
            <a:off x="812800" y="4515941"/>
            <a:ext cx="354949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72"/>
                </a:solidFill>
                <a:latin typeface="IBM Plex Sans" pitchFamily="34" charset="0"/>
                <a:ea typeface="IBM Plex Sans" pitchFamily="34" charset="-122"/>
                <a:cs typeface="IBM Plex Sans" pitchFamily="34" charset="-120"/>
              </a:rPr>
              <a:t>of EU waste shipments may be illegal</a:t>
            </a:r>
            <a:endParaRPr lang="en-US" sz="1400" dirty="0"/>
          </a:p>
        </p:txBody>
      </p:sp>
      <p:sp>
        <p:nvSpPr>
          <p:cNvPr id="17" name="Text 15"/>
          <p:cNvSpPr/>
          <p:nvPr/>
        </p:nvSpPr>
        <p:spPr>
          <a:xfrm>
            <a:off x="4380309" y="3855541"/>
            <a:ext cx="259627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B2A31"/>
                </a:solidFill>
                <a:latin typeface="IBM Plex Sans" pitchFamily="34" charset="0"/>
                <a:ea typeface="IBM Plex Sans" pitchFamily="34" charset="-122"/>
                <a:cs typeface="IBM Plex Sans" pitchFamily="34" charset="-120"/>
              </a:rPr>
              <a:t>€9.5 bn</a:t>
            </a:r>
            <a:endParaRPr lang="en-US" sz="4800" dirty="0"/>
          </a:p>
        </p:txBody>
      </p:sp>
      <p:sp>
        <p:nvSpPr>
          <p:cNvPr id="18" name="Text 16"/>
          <p:cNvSpPr/>
          <p:nvPr/>
        </p:nvSpPr>
        <p:spPr>
          <a:xfrm>
            <a:off x="4380309" y="4515941"/>
            <a:ext cx="222847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72"/>
                </a:solidFill>
                <a:latin typeface="IBM Plex Sans" pitchFamily="34" charset="0"/>
                <a:ea typeface="IBM Plex Sans" pitchFamily="34" charset="-122"/>
                <a:cs typeface="IBM Plex Sans" pitchFamily="34" charset="-120"/>
              </a:rPr>
              <a:t>estimated value per year</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2"/>
                </a:solidFill>
                <a:latin typeface="IBM Plex Sans" pitchFamily="34" charset="0"/>
                <a:ea typeface="IBM Plex Sans" pitchFamily="34" charset="-122"/>
                <a:cs typeface="IBM Plex Sans" pitchFamily="34" charset="-120"/>
              </a:rPr>
              <a:t>Source: EU estimates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32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F08A5D"/>
                </a:solidFill>
                <a:latin typeface="IBM Plex Mono" pitchFamily="49" charset="0"/>
                <a:ea typeface="IBM Plex Mono" pitchFamily="49" charset="-122"/>
                <a:cs typeface="IBM Plex Mono" pitchFamily="49" charset="-120"/>
              </a:rPr>
              <a:t>THE GOSPIĆ CASE · REPORTED FOR 2023</a:t>
            </a:r>
            <a:endParaRPr lang="en-US" sz="1400" dirty="0"/>
          </a:p>
        </p:txBody>
      </p:sp>
      <p:sp>
        <p:nvSpPr>
          <p:cNvPr id="3" name="Text 1"/>
          <p:cNvSpPr/>
          <p:nvPr>
            <p:ph type="title"/>
          </p:nvPr>
        </p:nvSpPr>
        <p:spPr>
          <a:xfrm>
            <a:off x="812800" y="1214041"/>
            <a:ext cx="981075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F1EA"/>
                </a:solidFill>
                <a:latin typeface="IBM Plex Sans" pitchFamily="34" charset="0"/>
                <a:ea typeface="IBM Plex Sans" pitchFamily="34" charset="-122"/>
                <a:cs typeface="IBM Plex Sans" pitchFamily="34" charset="-120"/>
              </a:rPr>
              <a:t>The warning signs were in public data</a:t>
            </a:r>
            <a:endParaRPr lang="en-US" sz="3200" dirty="0"/>
          </a:p>
        </p:txBody>
      </p:sp>
      <p:sp>
        <p:nvSpPr>
          <p:cNvPr id="4" name="Shape 2"/>
          <p:cNvSpPr/>
          <p:nvPr/>
        </p:nvSpPr>
        <p:spPr>
          <a:xfrm>
            <a:off x="812800" y="2676525"/>
            <a:ext cx="3251200" cy="0"/>
          </a:xfrm>
          <a:prstGeom prst="line">
            <a:avLst/>
          </a:prstGeom>
          <a:noFill/>
          <a:ln w="19050">
            <a:solidFill>
              <a:srgbClr val="F3F1EA"/>
            </a:solidFill>
            <a:prstDash val="solid"/>
          </a:ln>
        </p:spPr>
      </p:sp>
      <p:sp>
        <p:nvSpPr>
          <p:cNvPr id="5" name="Text 3"/>
          <p:cNvSpPr/>
          <p:nvPr/>
        </p:nvSpPr>
        <p:spPr>
          <a:xfrm>
            <a:off x="812800" y="2889250"/>
            <a:ext cx="334873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3F1EA"/>
                </a:solidFill>
                <a:latin typeface="IBM Plex Sans" pitchFamily="34" charset="0"/>
                <a:ea typeface="IBM Plex Sans" pitchFamily="34" charset="-122"/>
                <a:cs typeface="IBM Plex Sans" pitchFamily="34" charset="-120"/>
              </a:rPr>
              <a:t>15,574 t</a:t>
            </a:r>
            <a:endParaRPr lang="en-US" sz="6000" dirty="0"/>
          </a:p>
        </p:txBody>
      </p:sp>
      <p:sp>
        <p:nvSpPr>
          <p:cNvPr id="6" name="Text 4"/>
          <p:cNvSpPr/>
          <p:nvPr/>
        </p:nvSpPr>
        <p:spPr>
          <a:xfrm>
            <a:off x="812800" y="3752850"/>
            <a:ext cx="334873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9B7BD"/>
                </a:solidFill>
                <a:latin typeface="IBM Plex Sans" pitchFamily="34" charset="0"/>
                <a:ea typeface="IBM Plex Sans" pitchFamily="34" charset="-122"/>
                <a:cs typeface="IBM Plex Sans" pitchFamily="34" charset="-120"/>
              </a:rPr>
              <a:t>waste treated, almost all plastics (19 12 04, R3)</a:t>
            </a:r>
            <a:endParaRPr lang="en-US" sz="1500" dirty="0"/>
          </a:p>
        </p:txBody>
      </p:sp>
      <p:sp>
        <p:nvSpPr>
          <p:cNvPr id="7" name="Shape 5"/>
          <p:cNvSpPr/>
          <p:nvPr/>
        </p:nvSpPr>
        <p:spPr>
          <a:xfrm>
            <a:off x="4470400" y="2676525"/>
            <a:ext cx="3251200" cy="0"/>
          </a:xfrm>
          <a:prstGeom prst="line">
            <a:avLst/>
          </a:prstGeom>
          <a:noFill/>
          <a:ln w="19050">
            <a:solidFill>
              <a:srgbClr val="F08A5D"/>
            </a:solidFill>
            <a:prstDash val="solid"/>
          </a:ln>
        </p:spPr>
      </p:sp>
      <p:sp>
        <p:nvSpPr>
          <p:cNvPr id="8" name="Text 6"/>
          <p:cNvSpPr/>
          <p:nvPr/>
        </p:nvSpPr>
        <p:spPr>
          <a:xfrm>
            <a:off x="4470400" y="2889250"/>
            <a:ext cx="334873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08A5D"/>
                </a:solidFill>
                <a:latin typeface="IBM Plex Sans" pitchFamily="34" charset="0"/>
                <a:ea typeface="IBM Plex Sans" pitchFamily="34" charset="-122"/>
                <a:cs typeface="IBM Plex Sans" pitchFamily="34" charset="-120"/>
              </a:rPr>
              <a:t>19 t</a:t>
            </a:r>
            <a:endParaRPr lang="en-US" sz="6000" dirty="0"/>
          </a:p>
        </p:txBody>
      </p:sp>
      <p:sp>
        <p:nvSpPr>
          <p:cNvPr id="9" name="Text 7"/>
          <p:cNvSpPr/>
          <p:nvPr/>
        </p:nvSpPr>
        <p:spPr>
          <a:xfrm>
            <a:off x="4470400" y="3752850"/>
            <a:ext cx="334873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9B7BD"/>
                </a:solidFill>
                <a:latin typeface="IBM Plex Sans" pitchFamily="34" charset="0"/>
                <a:ea typeface="IBM Plex Sans" pitchFamily="34" charset="-122"/>
                <a:cs typeface="IBM Plex Sans" pitchFamily="34" charset="-120"/>
              </a:rPr>
              <a:t>residual waste reported</a:t>
            </a:r>
            <a:endParaRPr lang="en-US" sz="1500" dirty="0"/>
          </a:p>
        </p:txBody>
      </p:sp>
      <p:sp>
        <p:nvSpPr>
          <p:cNvPr id="10" name="Shape 8"/>
          <p:cNvSpPr/>
          <p:nvPr/>
        </p:nvSpPr>
        <p:spPr>
          <a:xfrm>
            <a:off x="8128000" y="2676525"/>
            <a:ext cx="3251200" cy="0"/>
          </a:xfrm>
          <a:prstGeom prst="line">
            <a:avLst/>
          </a:prstGeom>
          <a:noFill/>
          <a:ln w="19050">
            <a:solidFill>
              <a:srgbClr val="F3F1EA"/>
            </a:solidFill>
            <a:prstDash val="solid"/>
          </a:ln>
        </p:spPr>
      </p:sp>
      <p:sp>
        <p:nvSpPr>
          <p:cNvPr id="11" name="Text 9"/>
          <p:cNvSpPr/>
          <p:nvPr/>
        </p:nvSpPr>
        <p:spPr>
          <a:xfrm>
            <a:off x="8128000" y="2889250"/>
            <a:ext cx="334873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3F1EA"/>
                </a:solidFill>
                <a:latin typeface="IBM Plex Sans" pitchFamily="34" charset="0"/>
                <a:ea typeface="IBM Plex Sans" pitchFamily="34" charset="-122"/>
                <a:cs typeface="IBM Plex Sans" pitchFamily="34" charset="-120"/>
              </a:rPr>
              <a:t>0</a:t>
            </a:r>
            <a:endParaRPr lang="en-US" sz="6000" dirty="0"/>
          </a:p>
        </p:txBody>
      </p:sp>
      <p:sp>
        <p:nvSpPr>
          <p:cNvPr id="12" name="Text 10"/>
          <p:cNvSpPr/>
          <p:nvPr/>
        </p:nvSpPr>
        <p:spPr>
          <a:xfrm>
            <a:off x="8128000" y="3752850"/>
            <a:ext cx="334873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9B7BD"/>
                </a:solidFill>
                <a:latin typeface="IBM Plex Sans" pitchFamily="34" charset="0"/>
                <a:ea typeface="IBM Plex Sans" pitchFamily="34" charset="-122"/>
                <a:cs typeface="IBM Plex Sans" pitchFamily="34" charset="-120"/>
              </a:rPr>
              <a:t>reports filed for 2024 and 2025</a:t>
            </a:r>
            <a:endParaRPr lang="en-US" sz="1500" dirty="0"/>
          </a:p>
        </p:txBody>
      </p:sp>
      <p:sp>
        <p:nvSpPr>
          <p:cNvPr id="13" name="Text 11"/>
          <p:cNvSpPr/>
          <p:nvPr/>
        </p:nvSpPr>
        <p:spPr>
          <a:xfrm>
            <a:off x="812800" y="5273080"/>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1EA"/>
                </a:solidFill>
                <a:latin typeface="IBM Plex Sans" pitchFamily="34" charset="0"/>
                <a:ea typeface="IBM Plex Sans" pitchFamily="34" charset="-122"/>
                <a:cs typeface="IBM Plex Sans" pitchFamily="34" charset="-120"/>
              </a:rPr>
              <a:t>A licensed plant took waste from Italy, Slovenia and Croatia. Thousands of tonnes piled up, and a criminal investigation began in February 2025.</a:t>
            </a:r>
            <a:endParaRPr lang="en-US" sz="16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7BD"/>
                </a:solidFill>
                <a:latin typeface="IBM Plex Sans" pitchFamily="34" charset="0"/>
                <a:ea typeface="IBM Plex Sans" pitchFamily="34" charset="-122"/>
                <a:cs typeface="IBM Plex Sans" pitchFamily="34" charset="-120"/>
              </a:rPr>
              <a:t>Source: Croatian Environmental Pollution Register (ROO), public data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1"/>
                </a:solidFill>
                <a:latin typeface="IBM Plex Sans" pitchFamily="34" charset="0"/>
                <a:ea typeface="IBM Plex Sans" pitchFamily="34" charset="-122"/>
                <a:cs typeface="IBM Plex Sans" pitchFamily="34" charset="-120"/>
              </a:rPr>
              <a:t>One rule, four checks</a:t>
            </a:r>
            <a:endParaRPr lang="en-US" sz="3200" dirty="0"/>
          </a:p>
        </p:txBody>
      </p:sp>
      <p:sp>
        <p:nvSpPr>
          <p:cNvPr id="3" name="Text 1"/>
          <p:cNvSpPr/>
          <p:nvPr/>
        </p:nvSpPr>
        <p:spPr>
          <a:xfrm>
            <a:off x="812800" y="1513780"/>
            <a:ext cx="10566400" cy="741660"/>
          </a:xfrm>
          <a:prstGeom prst="roundRect">
            <a:avLst>
              <a:gd name="adj" fmla="val 13699"/>
            </a:avLst>
          </a:prstGeom>
          <a:solidFill>
            <a:srgbClr val="13232B"/>
          </a:solidFill>
          <a:ln/>
        </p:spPr>
        <p:txBody>
          <a:bodyPr wrap="square" lIns="275042" tIns="173442" rIns="0" bIns="148042" rtlCol="0" anchor="t">
            <a:normAutofit/>
          </a:bodyPr>
          <a:lstStyle/>
          <a:p>
            <a:pPr algn="l" indent="0" marL="0">
              <a:lnSpc>
                <a:spcPts val="2640"/>
              </a:lnSpc>
              <a:buNone/>
            </a:pPr>
            <a:r>
              <a:rPr lang="en-US" sz="2200" dirty="0">
                <a:solidFill>
                  <a:srgbClr val="F3F1EA"/>
                </a:solidFill>
                <a:latin typeface="IBM Plex Mono" pitchFamily="49" charset="0"/>
                <a:ea typeface="IBM Plex Mono" pitchFamily="49" charset="-122"/>
                <a:cs typeface="IBM Plex Mono" pitchFamily="49" charset="-120"/>
              </a:rPr>
              <a:t>input = output + Δ stock + process losses</a:t>
            </a:r>
            <a:endParaRPr lang="en-US" sz="2200" dirty="0"/>
          </a:p>
        </p:txBody>
      </p:sp>
      <p:sp>
        <p:nvSpPr>
          <p:cNvPr id="4" name="Shape 2"/>
          <p:cNvSpPr/>
          <p:nvPr/>
        </p:nvSpPr>
        <p:spPr>
          <a:xfrm>
            <a:off x="815975" y="2512616"/>
            <a:ext cx="5200650" cy="1187351"/>
          </a:xfrm>
          <a:prstGeom prst="roundRect">
            <a:avLst>
              <a:gd name="adj" fmla="val 8289"/>
            </a:avLst>
          </a:prstGeom>
          <a:solidFill>
            <a:srgbClr val="FBFAF6"/>
          </a:solidFill>
          <a:ln w="6350">
            <a:solidFill>
              <a:srgbClr val="D9D6CC"/>
            </a:solidFill>
            <a:prstDash val="solid"/>
          </a:ln>
        </p:spPr>
      </p:sp>
      <p:sp>
        <p:nvSpPr>
          <p:cNvPr id="5" name="Text 3"/>
          <p:cNvSpPr/>
          <p:nvPr/>
        </p:nvSpPr>
        <p:spPr>
          <a:xfrm>
            <a:off x="1073150" y="2718991"/>
            <a:ext cx="48268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1"/>
                </a:solidFill>
                <a:latin typeface="IBM Plex Sans" pitchFamily="34" charset="0"/>
                <a:ea typeface="IBM Plex Sans" pitchFamily="34" charset="-122"/>
                <a:cs typeface="IBM Plex Sans" pitchFamily="34" charset="-120"/>
              </a:rPr>
              <a:t>Mass balance</a:t>
            </a:r>
            <a:endParaRPr lang="en-US" sz="1600" dirty="0"/>
          </a:p>
        </p:txBody>
      </p:sp>
      <p:sp>
        <p:nvSpPr>
          <p:cNvPr id="6" name="Text 4"/>
          <p:cNvSpPr/>
          <p:nvPr/>
        </p:nvSpPr>
        <p:spPr>
          <a:xfrm>
            <a:off x="1073150" y="3013571"/>
            <a:ext cx="4826889"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B72"/>
                </a:solidFill>
                <a:latin typeface="IBM Plex Sans" pitchFamily="34" charset="0"/>
                <a:ea typeface="IBM Plex Sans" pitchFamily="34" charset="-122"/>
                <a:cs typeface="IBM Plex Sans" pitchFamily="34" charset="-120"/>
              </a:rPr>
              <a:t>Data reconciliation per plant and year, with uncertainty ranges</a:t>
            </a:r>
            <a:endParaRPr lang="en-US" sz="1400" dirty="0"/>
          </a:p>
        </p:txBody>
      </p:sp>
      <p:sp>
        <p:nvSpPr>
          <p:cNvPr id="7" name="Shape 5"/>
          <p:cNvSpPr/>
          <p:nvPr/>
        </p:nvSpPr>
        <p:spPr>
          <a:xfrm>
            <a:off x="6175375" y="2512616"/>
            <a:ext cx="5200650" cy="1187351"/>
          </a:xfrm>
          <a:prstGeom prst="roundRect">
            <a:avLst>
              <a:gd name="adj" fmla="val 8289"/>
            </a:avLst>
          </a:prstGeom>
          <a:solidFill>
            <a:srgbClr val="FBFAF6"/>
          </a:solidFill>
          <a:ln w="6350">
            <a:solidFill>
              <a:srgbClr val="D9D6CC"/>
            </a:solidFill>
            <a:prstDash val="solid"/>
          </a:ln>
        </p:spPr>
      </p:sp>
      <p:sp>
        <p:nvSpPr>
          <p:cNvPr id="8" name="Text 6"/>
          <p:cNvSpPr/>
          <p:nvPr/>
        </p:nvSpPr>
        <p:spPr>
          <a:xfrm>
            <a:off x="6432550" y="2718991"/>
            <a:ext cx="48268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1"/>
                </a:solidFill>
                <a:latin typeface="IBM Plex Sans" pitchFamily="34" charset="0"/>
                <a:ea typeface="IBM Plex Sans" pitchFamily="34" charset="-122"/>
                <a:cs typeface="IBM Plex Sans" pitchFamily="34" charset="-120"/>
              </a:rPr>
              <a:t>Partner cross-checks</a:t>
            </a:r>
            <a:endParaRPr lang="en-US" sz="1600" dirty="0"/>
          </a:p>
        </p:txBody>
      </p:sp>
      <p:sp>
        <p:nvSpPr>
          <p:cNvPr id="9" name="Text 7"/>
          <p:cNvSpPr/>
          <p:nvPr/>
        </p:nvSpPr>
        <p:spPr>
          <a:xfrm>
            <a:off x="6432550" y="3013571"/>
            <a:ext cx="4826889"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B72"/>
                </a:solidFill>
                <a:latin typeface="IBM Plex Sans" pitchFamily="34" charset="0"/>
                <a:ea typeface="IBM Plex Sans" pitchFamily="34" charset="-122"/>
                <a:cs typeface="IBM Plex Sans" pitchFamily="34" charset="-120"/>
              </a:rPr>
              <a:t>What plant A reports as sent against what plant B reports as received</a:t>
            </a:r>
            <a:endParaRPr lang="en-US" sz="1400" dirty="0"/>
          </a:p>
        </p:txBody>
      </p:sp>
      <p:sp>
        <p:nvSpPr>
          <p:cNvPr id="10" name="Shape 8"/>
          <p:cNvSpPr/>
          <p:nvPr/>
        </p:nvSpPr>
        <p:spPr>
          <a:xfrm>
            <a:off x="815975" y="3858716"/>
            <a:ext cx="5200650" cy="1187351"/>
          </a:xfrm>
          <a:prstGeom prst="roundRect">
            <a:avLst>
              <a:gd name="adj" fmla="val 8289"/>
            </a:avLst>
          </a:prstGeom>
          <a:solidFill>
            <a:srgbClr val="FBFAF6"/>
          </a:solidFill>
          <a:ln w="6350">
            <a:solidFill>
              <a:srgbClr val="D9D6CC"/>
            </a:solidFill>
            <a:prstDash val="solid"/>
          </a:ln>
        </p:spPr>
      </p:sp>
      <p:sp>
        <p:nvSpPr>
          <p:cNvPr id="11" name="Text 9"/>
          <p:cNvSpPr/>
          <p:nvPr/>
        </p:nvSpPr>
        <p:spPr>
          <a:xfrm>
            <a:off x="1073150" y="4065091"/>
            <a:ext cx="48268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1"/>
                </a:solidFill>
                <a:latin typeface="IBM Plex Sans" pitchFamily="34" charset="0"/>
                <a:ea typeface="IBM Plex Sans" pitchFamily="34" charset="-122"/>
                <a:cs typeface="IBM Plex Sans" pitchFamily="34" charset="-120"/>
              </a:rPr>
              <a:t>Physical feasibility</a:t>
            </a:r>
            <a:endParaRPr lang="en-US" sz="1600" dirty="0"/>
          </a:p>
        </p:txBody>
      </p:sp>
      <p:sp>
        <p:nvSpPr>
          <p:cNvPr id="12" name="Text 10"/>
          <p:cNvSpPr/>
          <p:nvPr/>
        </p:nvSpPr>
        <p:spPr>
          <a:xfrm>
            <a:off x="1073150" y="4359672"/>
            <a:ext cx="4826889"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B72"/>
                </a:solidFill>
                <a:latin typeface="IBM Plex Sans" pitchFamily="34" charset="0"/>
                <a:ea typeface="IBM Plex Sans" pitchFamily="34" charset="-122"/>
                <a:cs typeface="IBM Plex Sans" pitchFamily="34" charset="-120"/>
              </a:rPr>
              <a:t>Permitted capacity, storage area, density, machine throughput</a:t>
            </a:r>
            <a:endParaRPr lang="en-US" sz="1400" dirty="0"/>
          </a:p>
        </p:txBody>
      </p:sp>
      <p:sp>
        <p:nvSpPr>
          <p:cNvPr id="13" name="Shape 11"/>
          <p:cNvSpPr/>
          <p:nvPr/>
        </p:nvSpPr>
        <p:spPr>
          <a:xfrm>
            <a:off x="6175375" y="3858716"/>
            <a:ext cx="5200650" cy="1187351"/>
          </a:xfrm>
          <a:prstGeom prst="roundRect">
            <a:avLst>
              <a:gd name="adj" fmla="val 8289"/>
            </a:avLst>
          </a:prstGeom>
          <a:solidFill>
            <a:srgbClr val="FBFAF6"/>
          </a:solidFill>
          <a:ln w="6350">
            <a:solidFill>
              <a:srgbClr val="D9D6CC"/>
            </a:solidFill>
            <a:prstDash val="solid"/>
          </a:ln>
        </p:spPr>
      </p:sp>
      <p:sp>
        <p:nvSpPr>
          <p:cNvPr id="14" name="Text 12"/>
          <p:cNvSpPr/>
          <p:nvPr/>
        </p:nvSpPr>
        <p:spPr>
          <a:xfrm>
            <a:off x="6432550" y="4065091"/>
            <a:ext cx="48268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1"/>
                </a:solidFill>
                <a:latin typeface="IBM Plex Sans" pitchFamily="34" charset="0"/>
                <a:ea typeface="IBM Plex Sans" pitchFamily="34" charset="-122"/>
                <a:cs typeface="IBM Plex Sans" pitchFamily="34" charset="-120"/>
              </a:rPr>
              <a:t>Chemical feasibility</a:t>
            </a:r>
            <a:endParaRPr lang="en-US" sz="1600" dirty="0"/>
          </a:p>
        </p:txBody>
      </p:sp>
      <p:sp>
        <p:nvSpPr>
          <p:cNvPr id="15" name="Text 13"/>
          <p:cNvSpPr/>
          <p:nvPr/>
        </p:nvSpPr>
        <p:spPr>
          <a:xfrm>
            <a:off x="6432550" y="4359672"/>
            <a:ext cx="4826889"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B72"/>
                </a:solidFill>
                <a:latin typeface="IBM Plex Sans" pitchFamily="34" charset="0"/>
                <a:ea typeface="IBM Plex Sans" pitchFamily="34" charset="-122"/>
                <a:cs typeface="IBM Plex Sans" pitchFamily="34" charset="-120"/>
              </a:rPr>
              <a:t>Hazardous in, non-hazardous out, only with a process that can do it</a:t>
            </a:r>
            <a:endParaRPr lang="en-US" sz="1400" dirty="0"/>
          </a:p>
        </p:txBody>
      </p:sp>
      <p:sp>
        <p:nvSpPr>
          <p:cNvPr id="16" name="Text 14"/>
          <p:cNvSpPr/>
          <p:nvPr/>
        </p:nvSpPr>
        <p:spPr>
          <a:xfrm>
            <a:off x="812800" y="5303242"/>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B2A31"/>
                </a:solidFill>
                <a:latin typeface="IBM Plex Sans" pitchFamily="34" charset="0"/>
                <a:ea typeface="IBM Plex Sans" pitchFamily="34" charset="-122"/>
                <a:cs typeface="IBM Plex Sans" pitchFamily="34" charset="-120"/>
              </a:rPr>
              <a:t>Independent sources</a:t>
            </a:r>
            <a:r>
              <a:rPr lang="en-US" sz="1400" dirty="0">
                <a:solidFill>
                  <a:srgbClr val="1B2A31"/>
                </a:solidFill>
                <a:latin typeface="IBM Plex Sans" pitchFamily="34" charset="0"/>
                <a:ea typeface="IBM Plex Sans" pitchFamily="34" charset="-122"/>
                <a:cs typeface="IBM Plex Sans" pitchFamily="34" charset="-120"/>
              </a:rPr>
              <a:t> that are hard to fake: Sentinel-2 satellite images of stockpiles, financial statements, permit history.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1"/>
                </a:solidFill>
                <a:latin typeface="IBM Plex Sans" pitchFamily="34" charset="0"/>
                <a:ea typeface="IBM Plex Sans" pitchFamily="34" charset="-122"/>
                <a:cs typeface="IBM Plex Sans" pitchFamily="34" charset="-120"/>
              </a:rPr>
              <a:t>Demo: Gospić stands out among 13 plants</a:t>
            </a:r>
            <a:endParaRPr lang="en-US" sz="3200" dirty="0"/>
          </a:p>
        </p:txBody>
      </p:sp>
      <p:pic>
        <p:nvPicPr>
          <p:cNvPr id="3" name="Image 0" descr="Scatter of 13 plants: Gospić has the largest input and by far the lowest residue share">    </p:cNvPr>
          <p:cNvPicPr>
            <a:picLocks noChangeAspect="1"/>
          </p:cNvPicPr>
          <p:nvPr/>
        </p:nvPicPr>
        <p:blipFill>
          <a:blip r:embed="rId1"/>
          <a:srcRect l="-18" r="-18" t="0" b="0"/>
          <a:stretch/>
        </p:blipFill>
        <p:spPr>
          <a:xfrm>
            <a:off x="812800" y="1513780"/>
            <a:ext cx="6985000" cy="4064000"/>
          </a:xfrm>
          <a:prstGeom prst="rect">
            <a:avLst/>
          </a:prstGeom>
        </p:spPr>
      </p:pic>
      <p:sp>
        <p:nvSpPr>
          <p:cNvPr id="4" name="Text 1"/>
          <p:cNvSpPr/>
          <p:nvPr/>
        </p:nvSpPr>
        <p:spPr>
          <a:xfrm>
            <a:off x="8204200" y="2209105"/>
            <a:ext cx="327025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4501F"/>
                </a:solidFill>
                <a:latin typeface="IBM Plex Sans" pitchFamily="34" charset="0"/>
                <a:ea typeface="IBM Plex Sans" pitchFamily="34" charset="-122"/>
                <a:cs typeface="IBM Plex Sans" pitchFamily="34" charset="-120"/>
              </a:rPr>
              <a:t>0.12%</a:t>
            </a:r>
            <a:endParaRPr lang="en-US" sz="4800" dirty="0"/>
          </a:p>
        </p:txBody>
      </p:sp>
      <p:sp>
        <p:nvSpPr>
          <p:cNvPr id="5" name="Text 2"/>
          <p:cNvSpPr/>
          <p:nvPr/>
        </p:nvSpPr>
        <p:spPr>
          <a:xfrm>
            <a:off x="8204200" y="2869505"/>
            <a:ext cx="327025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B72"/>
                </a:solidFill>
                <a:latin typeface="IBM Plex Sans" pitchFamily="34" charset="0"/>
                <a:ea typeface="IBM Plex Sans" pitchFamily="34" charset="-122"/>
                <a:cs typeface="IBM Plex Sans" pitchFamily="34" charset="-120"/>
              </a:rPr>
              <a:t>residue reported in Gospić, the largest plant of the group</a:t>
            </a:r>
            <a:endParaRPr lang="en-US" sz="1400" dirty="0"/>
          </a:p>
        </p:txBody>
      </p:sp>
      <p:sp>
        <p:nvSpPr>
          <p:cNvPr id="6" name="Text 3"/>
          <p:cNvSpPr/>
          <p:nvPr/>
        </p:nvSpPr>
        <p:spPr>
          <a:xfrm>
            <a:off x="8204200" y="3552726"/>
            <a:ext cx="327025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B2A31"/>
                </a:solidFill>
                <a:latin typeface="IBM Plex Sans" pitchFamily="34" charset="0"/>
                <a:ea typeface="IBM Plex Sans" pitchFamily="34" charset="-122"/>
                <a:cs typeface="IBM Plex Sans" pitchFamily="34" charset="-120"/>
              </a:rPr>
              <a:t>1.7%</a:t>
            </a:r>
            <a:endParaRPr lang="en-US" sz="2800" dirty="0"/>
          </a:p>
        </p:txBody>
      </p:sp>
      <p:sp>
        <p:nvSpPr>
          <p:cNvPr id="7" name="Text 4"/>
          <p:cNvSpPr/>
          <p:nvPr/>
        </p:nvSpPr>
        <p:spPr>
          <a:xfrm>
            <a:off x="8204200" y="3959126"/>
            <a:ext cx="327025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B72"/>
                </a:solidFill>
                <a:latin typeface="IBM Plex Sans" pitchFamily="34" charset="0"/>
                <a:ea typeface="IBM Plex Sans" pitchFamily="34" charset="-122"/>
                <a:cs typeface="IBM Plex Sans" pitchFamily="34" charset="-120"/>
              </a:rPr>
              <a:t>next lowest plant</a:t>
            </a:r>
            <a:endParaRPr lang="en-US" sz="1400" dirty="0"/>
          </a:p>
        </p:txBody>
      </p:sp>
      <p:sp>
        <p:nvSpPr>
          <p:cNvPr id="8" name="Text 5"/>
          <p:cNvSpPr/>
          <p:nvPr/>
        </p:nvSpPr>
        <p:spPr>
          <a:xfrm>
            <a:off x="8204200" y="4402336"/>
            <a:ext cx="327025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A31"/>
                </a:solidFill>
                <a:latin typeface="IBM Plex Sans" pitchFamily="34" charset="0"/>
                <a:ea typeface="IBM Plex Sans" pitchFamily="34" charset="-122"/>
                <a:cs typeface="IBM Plex Sans" pitchFamily="34" charset="-120"/>
              </a:rPr>
              <a:t>No plant is picked by hand. The code ranks all 13.</a:t>
            </a:r>
            <a:endParaRPr lang="en-US" sz="14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2"/>
                </a:solidFill>
                <a:latin typeface="IBM Plex Sans" pitchFamily="34" charset="0"/>
                <a:ea typeface="IBM Plex Sans" pitchFamily="34" charset="-122"/>
                <a:cs typeface="IBM Plex Sans" pitchFamily="34" charset="-120"/>
              </a:rPr>
              <a:t>ROO 2023 · all plants reporting R3 treatment of waste code 19 12 04 · both axes logarithmic</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1"/>
                </a:solidFill>
                <a:latin typeface="IBM Plex Sans" pitchFamily="34" charset="0"/>
                <a:ea typeface="IBM Plex Sans" pitchFamily="34" charset="-122"/>
                <a:cs typeface="IBM Plex Sans" pitchFamily="34" charset="-120"/>
              </a:rPr>
              <a:t>Expected versus reported residue</a:t>
            </a:r>
            <a:endParaRPr lang="en-US" sz="3200" dirty="0"/>
          </a:p>
        </p:txBody>
      </p:sp>
      <p:pic>
        <p:nvPicPr>
          <p:cNvPr id="3" name="Image 0" descr="Reported residue against expected range for 8 plastics recycling plants; Gospić and Plant B fall far below the range">    </p:cNvPr>
          <p:cNvPicPr>
            <a:picLocks noChangeAspect="1"/>
          </p:cNvPicPr>
          <p:nvPr/>
        </p:nvPicPr>
        <p:blipFill>
          <a:blip r:embed="rId1"/>
          <a:srcRect l="-8" r="-8" t="0" b="0"/>
          <a:stretch/>
        </p:blipFill>
        <p:spPr>
          <a:xfrm>
            <a:off x="812800" y="1513780"/>
            <a:ext cx="6985000" cy="4191000"/>
          </a:xfrm>
          <a:prstGeom prst="rect">
            <a:avLst/>
          </a:prstGeom>
        </p:spPr>
      </p:pic>
      <p:sp>
        <p:nvSpPr>
          <p:cNvPr id="4" name="Text 1"/>
          <p:cNvSpPr/>
          <p:nvPr/>
        </p:nvSpPr>
        <p:spPr>
          <a:xfrm>
            <a:off x="8204200" y="2235795"/>
            <a:ext cx="327025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4501F"/>
                </a:solidFill>
                <a:latin typeface="IBM Plex Sans" pitchFamily="34" charset="0"/>
                <a:ea typeface="IBM Plex Sans" pitchFamily="34" charset="-122"/>
                <a:cs typeface="IBM Plex Sans" pitchFamily="34" charset="-120"/>
              </a:rPr>
              <a:t>80–245×</a:t>
            </a:r>
            <a:endParaRPr lang="en-US" sz="4800" dirty="0"/>
          </a:p>
        </p:txBody>
      </p:sp>
      <p:sp>
        <p:nvSpPr>
          <p:cNvPr id="5" name="Text 2"/>
          <p:cNvSpPr/>
          <p:nvPr/>
        </p:nvSpPr>
        <p:spPr>
          <a:xfrm>
            <a:off x="8204200" y="2896195"/>
            <a:ext cx="327025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B72"/>
                </a:solidFill>
                <a:latin typeface="IBM Plex Sans" pitchFamily="34" charset="0"/>
                <a:ea typeface="IBM Plex Sans" pitchFamily="34" charset="-122"/>
                <a:cs typeface="IBM Plex Sans" pitchFamily="34" charset="-120"/>
              </a:rPr>
              <a:t>less residue in Gospić than the lowest expected value</a:t>
            </a:r>
            <a:endParaRPr lang="en-US" sz="1400" dirty="0"/>
          </a:p>
        </p:txBody>
      </p:sp>
      <p:sp>
        <p:nvSpPr>
          <p:cNvPr id="6" name="Text 3"/>
          <p:cNvSpPr/>
          <p:nvPr/>
        </p:nvSpPr>
        <p:spPr>
          <a:xfrm>
            <a:off x="8204200" y="3579416"/>
            <a:ext cx="3270250"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A31"/>
                </a:solidFill>
                <a:latin typeface="IBM Plex Sans" pitchFamily="34" charset="0"/>
                <a:ea typeface="IBM Plex Sans" pitchFamily="34" charset="-122"/>
                <a:cs typeface="IBM Plex Sans" pitchFamily="34" charset="-120"/>
              </a:rPr>
              <a:t>Expected range from the type of input: A clean industrial, B sorted packaging, C residues of other sorting plants.</a:t>
            </a:r>
            <a:endParaRPr lang="en-US" sz="1400" dirty="0"/>
          </a:p>
        </p:txBody>
      </p:sp>
      <p:sp>
        <p:nvSpPr>
          <p:cNvPr id="7" name="Text 4"/>
          <p:cNvSpPr/>
          <p:nvPr/>
        </p:nvSpPr>
        <p:spPr>
          <a:xfrm>
            <a:off x="8204200" y="4502646"/>
            <a:ext cx="327025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A31"/>
                </a:solidFill>
                <a:latin typeface="IBM Plex Sans" pitchFamily="34" charset="0"/>
                <a:ea typeface="IBM Plex Sans" pitchFamily="34" charset="-122"/>
                <a:cs typeface="IBM Plex Sans" pitchFamily="34" charset="-120"/>
              </a:rPr>
              <a:t>Six of eight plants fall inside the range or within model uncertainty.</a:t>
            </a:r>
            <a:endParaRPr lang="en-US" sz="14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2"/>
                </a:solidFill>
                <a:latin typeface="IBM Plex Sans" pitchFamily="34" charset="0"/>
                <a:ea typeface="IBM Plex Sans" pitchFamily="34" charset="-122"/>
                <a:cs typeface="IBM Plex Sans" pitchFamily="34" charset="-120"/>
              </a:rPr>
              <a:t>ROO 2023 · 8 plants where plastics recycling is at least 80% of treatment · ranges: JRC plant data (Antonopoulos et al. 2021) and team estimates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1"/>
                </a:solidFill>
                <a:latin typeface="IBM Plex Sans" pitchFamily="34" charset="0"/>
                <a:ea typeface="IBM Plex Sans" pitchFamily="34" charset="-122"/>
                <a:cs typeface="IBM Plex Sans" pitchFamily="34" charset="-120"/>
              </a:rPr>
              <a:t>What exists today</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77280"/>
          <a:ext cx="10553700" cy="2746871"/>
        </p:xfrm>
        <a:graphic>
          <a:graphicData uri="http://schemas.openxmlformats.org/drawingml/2006/table">
            <a:tbl>
              <a:tblPr/>
              <a:tblGrid>
                <a:gridCol w="3517900"/>
                <a:gridCol w="3517900"/>
                <a:gridCol w="3517900"/>
              </a:tblGrid>
              <a:tr h="506710">
                <a:tc>
                  <a:txBody>
                    <a:bodyPr/>
                    <a:lstStyle/>
                    <a:p>
                      <a:pPr indent="0" marL="0">
                        <a:lnSpc>
                          <a:spcPts val="1960"/>
                        </a:lnSpc>
                        <a:buNone/>
                      </a:pPr>
                      <a:r>
                        <a:rPr lang="en-US" sz="1400" b="1" dirty="0">
                          <a:solidFill>
                            <a:srgbClr val="1B2A31"/>
                          </a:solidFill>
                          <a:latin typeface="IBM Plex Sans" pitchFamily="34" charset="0"/>
                          <a:ea typeface="IBM Plex Sans" pitchFamily="34" charset="-122"/>
                          <a:cs typeface="IBM Plex Sans" pitchFamily="34" charset="-120"/>
                        </a:rPr>
                        <a:t>Approach</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2C0BB"/>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960"/>
                        </a:lnSpc>
                        <a:buNone/>
                      </a:pPr>
                      <a:r>
                        <a:rPr lang="en-US" sz="1400" b="1" dirty="0">
                          <a:solidFill>
                            <a:srgbClr val="1B2A31"/>
                          </a:solidFill>
                          <a:latin typeface="IBM Plex Sans" pitchFamily="34" charset="0"/>
                          <a:ea typeface="IBM Plex Sans" pitchFamily="34" charset="-122"/>
                          <a:cs typeface="IBM Plex Sans" pitchFamily="34" charset="-120"/>
                        </a:rPr>
                        <a:t>What it does</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960"/>
                        </a:lnSpc>
                        <a:buNone/>
                      </a:pPr>
                      <a:r>
                        <a:rPr lang="en-US" sz="1400" b="1" dirty="0">
                          <a:solidFill>
                            <a:srgbClr val="1B2A31"/>
                          </a:solidFill>
                          <a:latin typeface="IBM Plex Sans" pitchFamily="34" charset="0"/>
                          <a:ea typeface="IBM Plex Sans" pitchFamily="34" charset="-122"/>
                          <a:cs typeface="IBM Plex Sans" pitchFamily="34" charset="-120"/>
                        </a:rPr>
                        <a:t>What it misses</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r>
              <a:tr h="746720">
                <a:tc>
                  <a:txBody>
                    <a:bodyPr/>
                    <a:lstStyle/>
                    <a:p>
                      <a:pPr indent="0" marL="0">
                        <a:lnSpc>
                          <a:spcPts val="1960"/>
                        </a:lnSpc>
                        <a:buNone/>
                      </a:pPr>
                      <a:r>
                        <a:rPr lang="en-US" sz="1400" dirty="0">
                          <a:solidFill>
                            <a:srgbClr val="1B2A31"/>
                          </a:solidFill>
                          <a:latin typeface="IBM Plex Sans" pitchFamily="34" charset="0"/>
                          <a:ea typeface="IBM Plex Sans" pitchFamily="34" charset="-122"/>
                          <a:cs typeface="IBM Plex Sans" pitchFamily="34" charset="-120"/>
                        </a:rPr>
                        <a:t>Electronic consignment notes (e-ONTO, DIWASS)</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5B6B72"/>
                          </a:solidFill>
                          <a:latin typeface="IBM Plex Sans" pitchFamily="34" charset="0"/>
                          <a:ea typeface="IBM Plex Sans" pitchFamily="34" charset="-122"/>
                          <a:cs typeface="IBM Plex Sans" pitchFamily="34" charset="-120"/>
                        </a:rPr>
                        <a:t>Records each waste transfer</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5B6B72"/>
                          </a:solidFill>
                          <a:latin typeface="IBM Plex Sans" pitchFamily="34" charset="0"/>
                          <a:ea typeface="IBM Plex Sans" pitchFamily="34" charset="-122"/>
                          <a:cs typeface="IBM Plex Sans" pitchFamily="34" charset="-120"/>
                        </a:rPr>
                        <a:t>Does not test whether the numbers can be true</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746720">
                <a:tc>
                  <a:txBody>
                    <a:bodyPr/>
                    <a:lstStyle/>
                    <a:p>
                      <a:pPr indent="0" marL="0">
                        <a:lnSpc>
                          <a:spcPts val="1960"/>
                        </a:lnSpc>
                        <a:buNone/>
                      </a:pPr>
                      <a:r>
                        <a:rPr lang="en-US" sz="1400" dirty="0">
                          <a:solidFill>
                            <a:srgbClr val="1B2A31"/>
                          </a:solidFill>
                          <a:latin typeface="IBM Plex Sans" pitchFamily="34" charset="0"/>
                          <a:ea typeface="IBM Plex Sans" pitchFamily="34" charset="-122"/>
                          <a:cs typeface="IBM Plex Sans" pitchFamily="34" charset="-120"/>
                        </a:rPr>
                        <a:t>Satellite dump detection (PERIVALLON, EO companies)</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5B6B72"/>
                          </a:solidFill>
                          <a:latin typeface="IBM Plex Sans" pitchFamily="34" charset="0"/>
                          <a:ea typeface="IBM Plex Sans" pitchFamily="34" charset="-122"/>
                          <a:cs typeface="IBM Plex Sans" pitchFamily="34" charset="-120"/>
                        </a:rPr>
                        <a:t>Finds illegal dumps in images</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5B6B72"/>
                          </a:solidFill>
                          <a:latin typeface="IBM Plex Sans" pitchFamily="34" charset="0"/>
                          <a:ea typeface="IBM Plex Sans" pitchFamily="34" charset="-122"/>
                          <a:cs typeface="IBM Plex Sans" pitchFamily="34" charset="-120"/>
                        </a:rPr>
                        <a:t>Does not link a dump to a plant whose books do not close</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746720">
                <a:tc>
                  <a:txBody>
                    <a:bodyPr/>
                    <a:lstStyle/>
                    <a:p>
                      <a:pPr indent="0" marL="0">
                        <a:lnSpc>
                          <a:spcPts val="1960"/>
                        </a:lnSpc>
                        <a:buNone/>
                      </a:pPr>
                      <a:r>
                        <a:rPr lang="en-US" sz="1400" dirty="0">
                          <a:solidFill>
                            <a:srgbClr val="1B2A31"/>
                          </a:solidFill>
                          <a:latin typeface="IBM Plex Sans" pitchFamily="34" charset="0"/>
                          <a:ea typeface="IBM Plex Sans" pitchFamily="34" charset="-122"/>
                          <a:cs typeface="IBM Plex Sans" pitchFamily="34" charset="-120"/>
                        </a:rPr>
                        <a:t>Material flow software (STAN, TU Wien)</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5B6B72"/>
                          </a:solidFill>
                          <a:latin typeface="IBM Plex Sans" pitchFamily="34" charset="0"/>
                          <a:ea typeface="IBM Plex Sans" pitchFamily="34" charset="-122"/>
                          <a:cs typeface="IBM Plex Sans" pitchFamily="34" charset="-120"/>
                        </a:rPr>
                        <a:t>One-off research studies</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5B6B72"/>
                          </a:solidFill>
                          <a:latin typeface="IBM Plex Sans" pitchFamily="34" charset="0"/>
                          <a:ea typeface="IBM Plex Sans" pitchFamily="34" charset="-122"/>
                          <a:cs typeface="IBM Plex Sans" pitchFamily="34" charset="-120"/>
                        </a:rPr>
                        <a:t>Not built for monitoring hundreds of plants every year</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bl>
          </a:graphicData>
        </a:graphic>
      </p:graphicFrame>
      <p:sp>
        <p:nvSpPr>
          <p:cNvPr id="4" name="Text 1"/>
          <p:cNvSpPr/>
          <p:nvPr/>
        </p:nvSpPr>
        <p:spPr>
          <a:xfrm>
            <a:off x="812800" y="4628952"/>
            <a:ext cx="9156700"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B2A31"/>
                </a:solidFill>
                <a:latin typeface="IBM Plex Sans" pitchFamily="34" charset="0"/>
                <a:ea typeface="IBM Plex Sans" pitchFamily="34" charset="-122"/>
                <a:cs typeface="IBM Plex Sans" pitchFamily="34" charset="-120"/>
              </a:rPr>
              <a:t>We have not found a tool that combines plant-level mass balance, process models and independent sources.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1"/>
                </a:solidFill>
                <a:latin typeface="IBM Plex Sans" pitchFamily="34" charset="0"/>
                <a:ea typeface="IBM Plex Sans" pitchFamily="34" charset="-122"/>
                <a:cs typeface="IBM Plex Sans" pitchFamily="34" charset="-120"/>
              </a:rPr>
              <a:t>Who would use it</a:t>
            </a:r>
            <a:endParaRPr lang="en-US" sz="3200" dirty="0"/>
          </a:p>
        </p:txBody>
      </p:sp>
      <p:sp>
        <p:nvSpPr>
          <p:cNvPr id="3" name="Shape 1"/>
          <p:cNvSpPr/>
          <p:nvPr/>
        </p:nvSpPr>
        <p:spPr>
          <a:xfrm>
            <a:off x="815975" y="1516955"/>
            <a:ext cx="5200650" cy="1229221"/>
          </a:xfrm>
          <a:prstGeom prst="roundRect">
            <a:avLst>
              <a:gd name="adj" fmla="val 8007"/>
            </a:avLst>
          </a:prstGeom>
          <a:solidFill>
            <a:srgbClr val="FBFAF6"/>
          </a:solidFill>
          <a:ln w="6350">
            <a:solidFill>
              <a:srgbClr val="D9D6CC"/>
            </a:solidFill>
            <a:prstDash val="solid"/>
          </a:ln>
        </p:spPr>
      </p:sp>
      <p:sp>
        <p:nvSpPr>
          <p:cNvPr id="4" name="Text 2"/>
          <p:cNvSpPr/>
          <p:nvPr/>
        </p:nvSpPr>
        <p:spPr>
          <a:xfrm>
            <a:off x="1073150" y="1723330"/>
            <a:ext cx="48268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1"/>
                </a:solidFill>
                <a:latin typeface="IBM Plex Sans" pitchFamily="34" charset="0"/>
                <a:ea typeface="IBM Plex Sans" pitchFamily="34" charset="-122"/>
                <a:cs typeface="IBM Plex Sans" pitchFamily="34" charset="-120"/>
              </a:rPr>
              <a:t>Inspection authorities</a:t>
            </a:r>
            <a:endParaRPr lang="en-US" sz="1600" dirty="0"/>
          </a:p>
        </p:txBody>
      </p:sp>
      <p:sp>
        <p:nvSpPr>
          <p:cNvPr id="5" name="Text 3"/>
          <p:cNvSpPr/>
          <p:nvPr/>
        </p:nvSpPr>
        <p:spPr>
          <a:xfrm>
            <a:off x="1073150" y="2017911"/>
            <a:ext cx="4826889"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B72"/>
                </a:solidFill>
                <a:latin typeface="IBM Plex Sans" pitchFamily="34" charset="0"/>
                <a:ea typeface="IBM Plex Sans" pitchFamily="34" charset="-122"/>
                <a:cs typeface="IBM Plex Sans" pitchFamily="34" charset="-120"/>
              </a:rPr>
              <a:t>New Croatian law introduces risk-based inspections</a:t>
            </a:r>
            <a:endParaRPr lang="en-US" sz="1400" dirty="0"/>
          </a:p>
        </p:txBody>
      </p:sp>
      <p:sp>
        <p:nvSpPr>
          <p:cNvPr id="6" name="Text 4"/>
          <p:cNvSpPr/>
          <p:nvPr/>
        </p:nvSpPr>
        <p:spPr>
          <a:xfrm>
            <a:off x="1073150" y="2308721"/>
            <a:ext cx="48268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501F"/>
                </a:solidFill>
                <a:latin typeface="IBM Plex Mono" pitchFamily="49" charset="0"/>
                <a:ea typeface="IBM Plex Mono" pitchFamily="49" charset="-122"/>
                <a:cs typeface="IBM Plex Mono" pitchFamily="49" charset="-120"/>
              </a:rPr>
              <a:t>Research pilot, then licence</a:t>
            </a:r>
            <a:endParaRPr lang="en-US" sz="1300" dirty="0"/>
          </a:p>
        </p:txBody>
      </p:sp>
      <p:sp>
        <p:nvSpPr>
          <p:cNvPr id="7" name="Shape 5"/>
          <p:cNvSpPr/>
          <p:nvPr/>
        </p:nvSpPr>
        <p:spPr>
          <a:xfrm>
            <a:off x="6175375" y="1516955"/>
            <a:ext cx="5200650" cy="1229221"/>
          </a:xfrm>
          <a:prstGeom prst="roundRect">
            <a:avLst>
              <a:gd name="adj" fmla="val 8007"/>
            </a:avLst>
          </a:prstGeom>
          <a:solidFill>
            <a:srgbClr val="FBFAF6"/>
          </a:solidFill>
          <a:ln w="6350">
            <a:solidFill>
              <a:srgbClr val="D9D6CC"/>
            </a:solidFill>
            <a:prstDash val="solid"/>
          </a:ln>
        </p:spPr>
      </p:sp>
      <p:sp>
        <p:nvSpPr>
          <p:cNvPr id="8" name="Text 6"/>
          <p:cNvSpPr/>
          <p:nvPr/>
        </p:nvSpPr>
        <p:spPr>
          <a:xfrm>
            <a:off x="6432550" y="1723330"/>
            <a:ext cx="48268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1"/>
                </a:solidFill>
                <a:latin typeface="IBM Plex Sans" pitchFamily="34" charset="0"/>
                <a:ea typeface="IBM Plex Sans" pitchFamily="34" charset="-122"/>
                <a:cs typeface="IBM Plex Sans" pitchFamily="34" charset="-120"/>
              </a:rPr>
              <a:t>Banks and insurers</a:t>
            </a:r>
            <a:endParaRPr lang="en-US" sz="1600" dirty="0"/>
          </a:p>
        </p:txBody>
      </p:sp>
      <p:sp>
        <p:nvSpPr>
          <p:cNvPr id="9" name="Text 7"/>
          <p:cNvSpPr/>
          <p:nvPr/>
        </p:nvSpPr>
        <p:spPr>
          <a:xfrm>
            <a:off x="6432550" y="2017911"/>
            <a:ext cx="4826889"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B72"/>
                </a:solidFill>
                <a:latin typeface="IBM Plex Sans" pitchFamily="34" charset="0"/>
                <a:ea typeface="IBM Plex Sans" pitchFamily="34" charset="-122"/>
                <a:cs typeface="IBM Plex Sans" pitchFamily="34" charset="-120"/>
              </a:rPr>
              <a:t>Issue financial guarantees for waste operators</a:t>
            </a:r>
            <a:endParaRPr lang="en-US" sz="1400" dirty="0"/>
          </a:p>
        </p:txBody>
      </p:sp>
      <p:sp>
        <p:nvSpPr>
          <p:cNvPr id="10" name="Text 8"/>
          <p:cNvSpPr/>
          <p:nvPr/>
        </p:nvSpPr>
        <p:spPr>
          <a:xfrm>
            <a:off x="6432550" y="2308721"/>
            <a:ext cx="48268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501F"/>
                </a:solidFill>
                <a:latin typeface="IBM Plex Mono" pitchFamily="49" charset="0"/>
                <a:ea typeface="IBM Plex Mono" pitchFamily="49" charset="-122"/>
                <a:cs typeface="IBM Plex Mono" pitchFamily="49" charset="-120"/>
              </a:rPr>
              <a:t>Monitoring subscription</a:t>
            </a:r>
            <a:endParaRPr lang="en-US" sz="1300" dirty="0"/>
          </a:p>
        </p:txBody>
      </p:sp>
      <p:sp>
        <p:nvSpPr>
          <p:cNvPr id="11" name="Shape 9"/>
          <p:cNvSpPr/>
          <p:nvPr/>
        </p:nvSpPr>
        <p:spPr>
          <a:xfrm>
            <a:off x="815975" y="2904927"/>
            <a:ext cx="5200650" cy="1469231"/>
          </a:xfrm>
          <a:prstGeom prst="roundRect">
            <a:avLst>
              <a:gd name="adj" fmla="val 6699"/>
            </a:avLst>
          </a:prstGeom>
          <a:solidFill>
            <a:srgbClr val="FBFAF6"/>
          </a:solidFill>
          <a:ln w="6350">
            <a:solidFill>
              <a:srgbClr val="D9D6CC"/>
            </a:solidFill>
            <a:prstDash val="solid"/>
          </a:ln>
        </p:spPr>
      </p:sp>
      <p:sp>
        <p:nvSpPr>
          <p:cNvPr id="12" name="Text 10"/>
          <p:cNvSpPr/>
          <p:nvPr/>
        </p:nvSpPr>
        <p:spPr>
          <a:xfrm>
            <a:off x="1073150" y="3111302"/>
            <a:ext cx="48268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1"/>
                </a:solidFill>
                <a:latin typeface="IBM Plex Sans" pitchFamily="34" charset="0"/>
                <a:ea typeface="IBM Plex Sans" pitchFamily="34" charset="-122"/>
                <a:cs typeface="IBM Plex Sans" pitchFamily="34" charset="-120"/>
              </a:rPr>
              <a:t>Cement plants and industrial buyers</a:t>
            </a:r>
            <a:endParaRPr lang="en-US" sz="1600" dirty="0"/>
          </a:p>
        </p:txBody>
      </p:sp>
      <p:sp>
        <p:nvSpPr>
          <p:cNvPr id="13" name="Text 11"/>
          <p:cNvSpPr/>
          <p:nvPr/>
        </p:nvSpPr>
        <p:spPr>
          <a:xfrm>
            <a:off x="1073150" y="3405882"/>
            <a:ext cx="4826889"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B72"/>
                </a:solidFill>
                <a:latin typeface="IBM Plex Sans" pitchFamily="34" charset="0"/>
                <a:ea typeface="IBM Plex Sans" pitchFamily="34" charset="-122"/>
                <a:cs typeface="IBM Plex Sans" pitchFamily="34" charset="-120"/>
              </a:rPr>
              <a:t>Need reliable suppliers of waste-derived fuel and raw materials</a:t>
            </a:r>
            <a:endParaRPr lang="en-US" sz="1400" dirty="0"/>
          </a:p>
        </p:txBody>
      </p:sp>
      <p:sp>
        <p:nvSpPr>
          <p:cNvPr id="14" name="Text 12"/>
          <p:cNvSpPr/>
          <p:nvPr/>
        </p:nvSpPr>
        <p:spPr>
          <a:xfrm>
            <a:off x="1073150" y="3936702"/>
            <a:ext cx="48268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501F"/>
                </a:solidFill>
                <a:latin typeface="IBM Plex Mono" pitchFamily="49" charset="0"/>
                <a:ea typeface="IBM Plex Mono" pitchFamily="49" charset="-122"/>
                <a:cs typeface="IBM Plex Mono" pitchFamily="49" charset="-120"/>
              </a:rPr>
              <a:t>Due-diligence reports</a:t>
            </a:r>
            <a:endParaRPr lang="en-US" sz="1300" dirty="0"/>
          </a:p>
        </p:txBody>
      </p:sp>
      <p:sp>
        <p:nvSpPr>
          <p:cNvPr id="15" name="Shape 13"/>
          <p:cNvSpPr/>
          <p:nvPr/>
        </p:nvSpPr>
        <p:spPr>
          <a:xfrm>
            <a:off x="6175375" y="2904927"/>
            <a:ext cx="5200650" cy="1469231"/>
          </a:xfrm>
          <a:prstGeom prst="roundRect">
            <a:avLst>
              <a:gd name="adj" fmla="val 6699"/>
            </a:avLst>
          </a:prstGeom>
          <a:solidFill>
            <a:srgbClr val="FBFAF6"/>
          </a:solidFill>
          <a:ln w="6350">
            <a:solidFill>
              <a:srgbClr val="D9D6CC"/>
            </a:solidFill>
            <a:prstDash val="solid"/>
          </a:ln>
        </p:spPr>
      </p:sp>
      <p:sp>
        <p:nvSpPr>
          <p:cNvPr id="16" name="Text 14"/>
          <p:cNvSpPr/>
          <p:nvPr/>
        </p:nvSpPr>
        <p:spPr>
          <a:xfrm>
            <a:off x="6432550" y="3111302"/>
            <a:ext cx="48268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1"/>
                </a:solidFill>
                <a:latin typeface="IBM Plex Sans" pitchFamily="34" charset="0"/>
                <a:ea typeface="IBM Plex Sans" pitchFamily="34" charset="-122"/>
                <a:cs typeface="IBM Plex Sans" pitchFamily="34" charset="-120"/>
              </a:rPr>
              <a:t>Waste producers and shippers</a:t>
            </a:r>
            <a:endParaRPr lang="en-US" sz="1600" dirty="0"/>
          </a:p>
        </p:txBody>
      </p:sp>
      <p:sp>
        <p:nvSpPr>
          <p:cNvPr id="17" name="Text 15"/>
          <p:cNvSpPr/>
          <p:nvPr/>
        </p:nvSpPr>
        <p:spPr>
          <a:xfrm>
            <a:off x="6432550" y="3405882"/>
            <a:ext cx="4826889"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B72"/>
                </a:solidFill>
                <a:latin typeface="IBM Plex Sans" pitchFamily="34" charset="0"/>
                <a:ea typeface="IBM Plex Sans" pitchFamily="34" charset="-122"/>
                <a:cs typeface="IBM Plex Sans" pitchFamily="34" charset="-120"/>
              </a:rPr>
              <a:t>Legally responsible for where their waste ends up</a:t>
            </a:r>
            <a:endParaRPr lang="en-US" sz="1400" dirty="0"/>
          </a:p>
        </p:txBody>
      </p:sp>
      <p:sp>
        <p:nvSpPr>
          <p:cNvPr id="18" name="Text 16"/>
          <p:cNvSpPr/>
          <p:nvPr/>
        </p:nvSpPr>
        <p:spPr>
          <a:xfrm>
            <a:off x="6432550" y="3696692"/>
            <a:ext cx="48268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501F"/>
                </a:solidFill>
                <a:latin typeface="IBM Plex Mono" pitchFamily="49" charset="0"/>
                <a:ea typeface="IBM Plex Mono" pitchFamily="49" charset="-122"/>
                <a:cs typeface="IBM Plex Mono" pitchFamily="49" charset="-120"/>
              </a:rPr>
              <a:t>Due-diligence reports</a:t>
            </a:r>
            <a:endParaRPr lang="en-US" sz="1300" dirty="0"/>
          </a:p>
        </p:txBody>
      </p:sp>
      <p:sp>
        <p:nvSpPr>
          <p:cNvPr id="19" name="Text 17"/>
          <p:cNvSpPr/>
          <p:nvPr/>
        </p:nvSpPr>
        <p:spPr>
          <a:xfrm>
            <a:off x="812800" y="4631333"/>
            <a:ext cx="1088339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A31"/>
                </a:solidFill>
                <a:latin typeface="IBM Plex Sans" pitchFamily="34" charset="0"/>
                <a:ea typeface="IBM Plex Sans" pitchFamily="34" charset="-122"/>
                <a:cs typeface="IBM Plex Sans" pitchFamily="34" charset="-120"/>
              </a:rPr>
              <a:t>We do not sell to the plants we monitor. A free public index builds trust; prices are hypotheses we will test in interviews.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1"/>
                </a:solidFill>
                <a:latin typeface="IBM Plex Sans" pitchFamily="34" charset="0"/>
                <a:ea typeface="IBM Plex Sans" pitchFamily="34" charset="-122"/>
                <a:cs typeface="IBM Plex Sans" pitchFamily="34" charset="-120"/>
              </a:rPr>
              <a:t>12-month plan and costs</a:t>
            </a:r>
            <a:endParaRPr lang="en-US" sz="3200" dirty="0"/>
          </a:p>
        </p:txBody>
      </p:sp>
      <p:pic>
        <p:nvPicPr>
          <p:cNvPr id="3" name="Image 0" descr="12-month work plan from November 2026 to October 2027">    </p:cNvPr>
          <p:cNvPicPr>
            <a:picLocks noChangeAspect="1"/>
          </p:cNvPicPr>
          <p:nvPr/>
        </p:nvPicPr>
        <p:blipFill>
          <a:blip r:embed="rId1"/>
          <a:srcRect l="0" r="0" t="0" b="0"/>
          <a:stretch/>
        </p:blipFill>
        <p:spPr>
          <a:xfrm>
            <a:off x="812800" y="1513780"/>
            <a:ext cx="6350000" cy="3556000"/>
          </a:xfrm>
          <a:prstGeom prst="rect">
            <a:avLst/>
          </a:prstGeom>
        </p:spPr>
      </p:pic>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581900" y="1526480"/>
          <a:ext cx="3797300" cy="3694212"/>
        </p:xfrm>
        <a:graphic>
          <a:graphicData uri="http://schemas.openxmlformats.org/drawingml/2006/table">
            <a:tbl>
              <a:tblPr/>
              <a:tblGrid>
                <a:gridCol w="1898650"/>
                <a:gridCol w="1898650"/>
              </a:tblGrid>
              <a:tr h="405110">
                <a:tc>
                  <a:txBody>
                    <a:bodyPr/>
                    <a:lstStyle/>
                    <a:p>
                      <a:pPr indent="0" marL="0">
                        <a:lnSpc>
                          <a:spcPts val="1820"/>
                        </a:lnSpc>
                        <a:buNone/>
                      </a:pPr>
                      <a:r>
                        <a:rPr lang="en-US" sz="1300" b="1" dirty="0">
                          <a:solidFill>
                            <a:srgbClr val="1B2A31"/>
                          </a:solidFill>
                          <a:latin typeface="IBM Plex Sans" pitchFamily="34" charset="0"/>
                          <a:ea typeface="IBM Plex Sans" pitchFamily="34" charset="-122"/>
                          <a:cs typeface="IBM Plex Sans" pitchFamily="34" charset="-120"/>
                        </a:rPr>
                        <a:t>Item</a:t>
                      </a:r>
                      <a:endParaRPr lang="en-US" sz="1300" dirty="0">
                        <a:latin typeface="IBM Plex Sans" charset="0"/>
                        <a:ea typeface="IBM Plex Sans" charset="0"/>
                        <a:cs typeface="IBM Plex Sans" charset="0"/>
                      </a:endParaRPr>
                    </a:p>
                  </a:txBody>
                  <a:tcPr marL="101600" marR="101600" marT="88900" marB="88900" anchor="t">
                    <a:lnL w="12700" cap="flat" cmpd="sng" algn="ctr">
                      <a:solidFill>
                        <a:srgbClr val="C2C0BB"/>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algn="r" indent="0" marL="0">
                        <a:lnSpc>
                          <a:spcPts val="1820"/>
                        </a:lnSpc>
                        <a:buNone/>
                      </a:pPr>
                      <a:r>
                        <a:rPr lang="en-US" sz="1300" b="1" dirty="0">
                          <a:solidFill>
                            <a:srgbClr val="1B2A31"/>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101600" marR="101600" marT="88900" marB="889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r>
              <a:tr h="619720">
                <a:tc>
                  <a:txBody>
                    <a:bodyPr/>
                    <a:lstStyle/>
                    <a:p>
                      <a:pPr indent="0" marL="0">
                        <a:lnSpc>
                          <a:spcPts val="1820"/>
                        </a:lnSpc>
                        <a:buNone/>
                      </a:pPr>
                      <a:r>
                        <a:rPr lang="en-US" sz="1300" dirty="0">
                          <a:solidFill>
                            <a:srgbClr val="1B2A31"/>
                          </a:solidFill>
                          <a:latin typeface="IBM Plex Sans" pitchFamily="34" charset="0"/>
                          <a:ea typeface="IBM Plex Sans" pitchFamily="34" charset="-122"/>
                          <a:cs typeface="IBM Plex Sans" pitchFamily="34" charset="-120"/>
                        </a:rPr>
                        <a:t>Drone (0 € if borrowed from FSB)</a:t>
                      </a:r>
                      <a:endParaRPr lang="en-US" sz="1300" dirty="0">
                        <a:latin typeface="IBM Plex Sans" charset="0"/>
                        <a:ea typeface="IBM Plex Sans" charset="0"/>
                        <a:cs typeface="IBM Plex Sans" charset="0"/>
                      </a:endParaRPr>
                    </a:p>
                  </a:txBody>
                  <a:tcPr marL="101600" marR="1016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r" indent="0" marL="0">
                        <a:lnSpc>
                          <a:spcPts val="1820"/>
                        </a:lnSpc>
                        <a:buNone/>
                      </a:pPr>
                      <a:r>
                        <a:rPr lang="en-US" sz="1300" dirty="0">
                          <a:solidFill>
                            <a:srgbClr val="1B2A31"/>
                          </a:solidFill>
                          <a:latin typeface="IBM Plex Sans" pitchFamily="34" charset="0"/>
                          <a:ea typeface="IBM Plex Sans" pitchFamily="34" charset="-122"/>
                          <a:cs typeface="IBM Plex Sans" pitchFamily="34" charset="-120"/>
                        </a:rPr>
                        <a:t>1,500</a:t>
                      </a:r>
                      <a:endParaRPr lang="en-US" sz="1300" dirty="0">
                        <a:latin typeface="IBM Plex Sans" charset="0"/>
                        <a:ea typeface="IBM Plex Sans" charset="0"/>
                        <a:cs typeface="IBM Plex Sans" charset="0"/>
                      </a:endParaRPr>
                    </a:p>
                  </a:txBody>
                  <a:tcPr marL="101600" marR="1016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619720">
                <a:tc>
                  <a:txBody>
                    <a:bodyPr/>
                    <a:lstStyle/>
                    <a:p>
                      <a:pPr indent="0" marL="0">
                        <a:lnSpc>
                          <a:spcPts val="1820"/>
                        </a:lnSpc>
                        <a:buNone/>
                      </a:pPr>
                      <a:r>
                        <a:rPr lang="en-US" sz="1300" dirty="0">
                          <a:solidFill>
                            <a:srgbClr val="1B2A31"/>
                          </a:solidFill>
                          <a:latin typeface="IBM Plex Sans" pitchFamily="34" charset="0"/>
                          <a:ea typeface="IBM Plex Sans" pitchFamily="34" charset="-122"/>
                          <a:cs typeface="IBM Plex Sans" pitchFamily="34" charset="-120"/>
                        </a:rPr>
                        <a:t>High-resolution satellite images</a:t>
                      </a:r>
                      <a:endParaRPr lang="en-US" sz="1300" dirty="0">
                        <a:latin typeface="IBM Plex Sans" charset="0"/>
                        <a:ea typeface="IBM Plex Sans" charset="0"/>
                        <a:cs typeface="IBM Plex Sans" charset="0"/>
                      </a:endParaRPr>
                    </a:p>
                  </a:txBody>
                  <a:tcPr marL="101600" marR="1016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r" indent="0" marL="0">
                        <a:lnSpc>
                          <a:spcPts val="1820"/>
                        </a:lnSpc>
                        <a:buNone/>
                      </a:pPr>
                      <a:r>
                        <a:rPr lang="en-US" sz="1300" dirty="0">
                          <a:solidFill>
                            <a:srgbClr val="1B2A31"/>
                          </a:solidFill>
                          <a:latin typeface="IBM Plex Sans" pitchFamily="34" charset="0"/>
                          <a:ea typeface="IBM Plex Sans" pitchFamily="34" charset="-122"/>
                          <a:cs typeface="IBM Plex Sans" pitchFamily="34" charset="-120"/>
                        </a:rPr>
                        <a:t>1,500</a:t>
                      </a:r>
                      <a:endParaRPr lang="en-US" sz="1300" dirty="0">
                        <a:latin typeface="IBM Plex Sans" charset="0"/>
                        <a:ea typeface="IBM Plex Sans" charset="0"/>
                        <a:cs typeface="IBM Plex Sans" charset="0"/>
                      </a:endParaRPr>
                    </a:p>
                  </a:txBody>
                  <a:tcPr marL="101600" marR="1016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05110">
                <a:tc>
                  <a:txBody>
                    <a:bodyPr/>
                    <a:lstStyle/>
                    <a:p>
                      <a:pPr indent="0" marL="0">
                        <a:lnSpc>
                          <a:spcPts val="1820"/>
                        </a:lnSpc>
                        <a:buNone/>
                      </a:pPr>
                      <a:r>
                        <a:rPr lang="en-US" sz="1300" dirty="0">
                          <a:solidFill>
                            <a:srgbClr val="1B2A31"/>
                          </a:solidFill>
                          <a:latin typeface="IBM Plex Sans" pitchFamily="34" charset="0"/>
                          <a:ea typeface="IBM Plex Sans" pitchFamily="34" charset="-122"/>
                          <a:cs typeface="IBM Plex Sans" pitchFamily="34" charset="-120"/>
                        </a:rPr>
                        <a:t>Field visits</a:t>
                      </a:r>
                      <a:endParaRPr lang="en-US" sz="1300" dirty="0">
                        <a:latin typeface="IBM Plex Sans" charset="0"/>
                        <a:ea typeface="IBM Plex Sans" charset="0"/>
                        <a:cs typeface="IBM Plex Sans" charset="0"/>
                      </a:endParaRPr>
                    </a:p>
                  </a:txBody>
                  <a:tcPr marL="101600" marR="1016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r" indent="0" marL="0">
                        <a:lnSpc>
                          <a:spcPts val="1820"/>
                        </a:lnSpc>
                        <a:buNone/>
                      </a:pPr>
                      <a:r>
                        <a:rPr lang="en-US" sz="1300" dirty="0">
                          <a:solidFill>
                            <a:srgbClr val="1B2A31"/>
                          </a:solidFill>
                          <a:latin typeface="IBM Plex Sans" pitchFamily="34" charset="0"/>
                          <a:ea typeface="IBM Plex Sans" pitchFamily="34" charset="-122"/>
                          <a:cs typeface="IBM Plex Sans" pitchFamily="34" charset="-120"/>
                        </a:rPr>
                        <a:t>800</a:t>
                      </a:r>
                      <a:endParaRPr lang="en-US" sz="1300" dirty="0">
                        <a:latin typeface="IBM Plex Sans" charset="0"/>
                        <a:ea typeface="IBM Plex Sans" charset="0"/>
                        <a:cs typeface="IBM Plex Sans" charset="0"/>
                      </a:endParaRPr>
                    </a:p>
                  </a:txBody>
                  <a:tcPr marL="101600" marR="1016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619720">
                <a:tc>
                  <a:txBody>
                    <a:bodyPr/>
                    <a:lstStyle/>
                    <a:p>
                      <a:pPr indent="0" marL="0">
                        <a:lnSpc>
                          <a:spcPts val="1820"/>
                        </a:lnSpc>
                        <a:buNone/>
                      </a:pPr>
                      <a:r>
                        <a:rPr lang="en-US" sz="1300" dirty="0">
                          <a:solidFill>
                            <a:srgbClr val="1B2A31"/>
                          </a:solidFill>
                          <a:latin typeface="IBM Plex Sans" pitchFamily="34" charset="0"/>
                          <a:ea typeface="IBM Plex Sans" pitchFamily="34" charset="-122"/>
                          <a:cs typeface="IBM Plex Sans" pitchFamily="34" charset="-120"/>
                        </a:rPr>
                        <a:t>Competition and conference</a:t>
                      </a:r>
                      <a:endParaRPr lang="en-US" sz="1300" dirty="0">
                        <a:latin typeface="IBM Plex Sans" charset="0"/>
                        <a:ea typeface="IBM Plex Sans" charset="0"/>
                        <a:cs typeface="IBM Plex Sans" charset="0"/>
                      </a:endParaRPr>
                    </a:p>
                  </a:txBody>
                  <a:tcPr marL="101600" marR="1016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r" indent="0" marL="0">
                        <a:lnSpc>
                          <a:spcPts val="1820"/>
                        </a:lnSpc>
                        <a:buNone/>
                      </a:pPr>
                      <a:r>
                        <a:rPr lang="en-US" sz="1300" dirty="0">
                          <a:solidFill>
                            <a:srgbClr val="1B2A31"/>
                          </a:solidFill>
                          <a:latin typeface="IBM Plex Sans" pitchFamily="34" charset="0"/>
                          <a:ea typeface="IBM Plex Sans" pitchFamily="34" charset="-122"/>
                          <a:cs typeface="IBM Plex Sans" pitchFamily="34" charset="-120"/>
                        </a:rPr>
                        <a:t>800</a:t>
                      </a:r>
                      <a:endParaRPr lang="en-US" sz="1300" dirty="0">
                        <a:latin typeface="IBM Plex Sans" charset="0"/>
                        <a:ea typeface="IBM Plex Sans" charset="0"/>
                        <a:cs typeface="IBM Plex Sans" charset="0"/>
                      </a:endParaRPr>
                    </a:p>
                  </a:txBody>
                  <a:tcPr marL="101600" marR="1016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619720">
                <a:tc>
                  <a:txBody>
                    <a:bodyPr/>
                    <a:lstStyle/>
                    <a:p>
                      <a:pPr indent="0" marL="0">
                        <a:lnSpc>
                          <a:spcPts val="1820"/>
                        </a:lnSpc>
                        <a:buNone/>
                      </a:pPr>
                      <a:r>
                        <a:rPr lang="en-US" sz="1300" dirty="0">
                          <a:solidFill>
                            <a:srgbClr val="1B2A31"/>
                          </a:solidFill>
                          <a:latin typeface="IBM Plex Sans" pitchFamily="34" charset="0"/>
                          <a:ea typeface="IBM Plex Sans" pitchFamily="34" charset="-122"/>
                          <a:cs typeface="IBM Plex Sans" pitchFamily="34" charset="-120"/>
                        </a:rPr>
                        <a:t>Computing and software</a:t>
                      </a:r>
                      <a:endParaRPr lang="en-US" sz="1300" dirty="0">
                        <a:latin typeface="IBM Plex Sans" charset="0"/>
                        <a:ea typeface="IBM Plex Sans" charset="0"/>
                        <a:cs typeface="IBM Plex Sans" charset="0"/>
                      </a:endParaRPr>
                    </a:p>
                  </a:txBody>
                  <a:tcPr marL="101600" marR="1016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r" indent="0" marL="0">
                        <a:lnSpc>
                          <a:spcPts val="1820"/>
                        </a:lnSpc>
                        <a:buNone/>
                      </a:pPr>
                      <a:r>
                        <a:rPr lang="en-US" sz="1300" dirty="0">
                          <a:solidFill>
                            <a:srgbClr val="1B2A31"/>
                          </a:solidFill>
                          <a:latin typeface="IBM Plex Sans" pitchFamily="34" charset="0"/>
                          <a:ea typeface="IBM Plex Sans" pitchFamily="34" charset="-122"/>
                          <a:cs typeface="IBM Plex Sans" pitchFamily="34" charset="-120"/>
                        </a:rPr>
                        <a:t>400</a:t>
                      </a:r>
                      <a:endParaRPr lang="en-US" sz="1300" dirty="0">
                        <a:latin typeface="IBM Plex Sans" charset="0"/>
                        <a:ea typeface="IBM Plex Sans" charset="0"/>
                        <a:cs typeface="IBM Plex Sans" charset="0"/>
                      </a:endParaRPr>
                    </a:p>
                  </a:txBody>
                  <a:tcPr marL="101600" marR="1016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05110">
                <a:tc>
                  <a:txBody>
                    <a:bodyPr/>
                    <a:lstStyle/>
                    <a:p>
                      <a:pPr indent="0" marL="0">
                        <a:lnSpc>
                          <a:spcPts val="1820"/>
                        </a:lnSpc>
                        <a:buNone/>
                      </a:pPr>
                      <a:r>
                        <a:rPr lang="en-US" sz="1300" dirty="0">
                          <a:solidFill>
                            <a:srgbClr val="1B2A31"/>
                          </a:solidFill>
                          <a:latin typeface="IBM Plex Sans" pitchFamily="34" charset="0"/>
                          <a:ea typeface="IBM Plex Sans" pitchFamily="34" charset="-122"/>
                          <a:cs typeface="IBM Plex Sans" pitchFamily="34" charset="-120"/>
                        </a:rPr>
                        <a:t>Total</a:t>
                      </a:r>
                      <a:endParaRPr lang="en-US" sz="1300" dirty="0">
                        <a:latin typeface="IBM Plex Sans" charset="0"/>
                        <a:ea typeface="IBM Plex Sans" charset="0"/>
                        <a:cs typeface="IBM Plex Sans" charset="0"/>
                      </a:endParaRPr>
                    </a:p>
                  </a:txBody>
                  <a:tcPr marL="101600" marR="1016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r" indent="0" marL="0">
                        <a:lnSpc>
                          <a:spcPts val="1820"/>
                        </a:lnSpc>
                        <a:buNone/>
                      </a:pPr>
                      <a:r>
                        <a:rPr lang="en-US" sz="1300" dirty="0">
                          <a:solidFill>
                            <a:srgbClr val="1B2A31"/>
                          </a:solidFill>
                          <a:latin typeface="IBM Plex Sans" pitchFamily="34" charset="0"/>
                          <a:ea typeface="IBM Plex Sans" pitchFamily="34" charset="-122"/>
                          <a:cs typeface="IBM Plex Sans" pitchFamily="34" charset="-120"/>
                        </a:rPr>
                        <a:t>5,000</a:t>
                      </a:r>
                      <a:endParaRPr lang="en-US" sz="1300" dirty="0">
                        <a:latin typeface="IBM Plex Sans" charset="0"/>
                        <a:ea typeface="IBM Plex Sans" charset="0"/>
                        <a:cs typeface="IBM Plex Sans" charset="0"/>
                      </a:endParaRPr>
                    </a:p>
                  </a:txBody>
                  <a:tcPr marL="101600" marR="1016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bl>
          </a:graphicData>
        </a:graphic>
      </p:graphicFrame>
      <p:sp>
        <p:nvSpPr>
          <p:cNvPr id="5" name="Text 1"/>
          <p:cNvSpPr/>
          <p:nvPr/>
        </p:nvSpPr>
        <p:spPr>
          <a:xfrm>
            <a:off x="7569200" y="5373092"/>
            <a:ext cx="392430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B72"/>
                </a:solidFill>
                <a:latin typeface="IBM Plex Sans" pitchFamily="34" charset="0"/>
                <a:ea typeface="IBM Plex Sans" pitchFamily="34" charset="-122"/>
                <a:cs typeface="IBM Plex Sans" pitchFamily="34" charset="-120"/>
              </a:rPr>
              <a:t>Team work is unpaid. Register data, permits and Sentinel-2 images are free.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32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F1EA"/>
                </a:solidFill>
                <a:latin typeface="IBM Plex Sans" pitchFamily="34" charset="0"/>
                <a:ea typeface="IBM Plex Sans" pitchFamily="34" charset="-122"/>
                <a:cs typeface="IBM Plex Sans" pitchFamily="34" charset="-120"/>
              </a:rPr>
              <a:t>From one case to every plant</a:t>
            </a:r>
            <a:endParaRPr lang="en-US" sz="3200" dirty="0"/>
          </a:p>
        </p:txBody>
      </p:sp>
      <p:sp>
        <p:nvSpPr>
          <p:cNvPr id="3" name="Shape 1"/>
          <p:cNvSpPr/>
          <p:nvPr/>
        </p:nvSpPr>
        <p:spPr>
          <a:xfrm>
            <a:off x="812800" y="2649934"/>
            <a:ext cx="3386634" cy="0"/>
          </a:xfrm>
          <a:prstGeom prst="line">
            <a:avLst/>
          </a:prstGeom>
          <a:noFill/>
          <a:ln w="19050">
            <a:solidFill>
              <a:srgbClr val="F08A5D"/>
            </a:solidFill>
            <a:prstDash val="solid"/>
          </a:ln>
        </p:spPr>
      </p:sp>
      <p:sp>
        <p:nvSpPr>
          <p:cNvPr id="4" name="Text 2"/>
          <p:cNvSpPr/>
          <p:nvPr/>
        </p:nvSpPr>
        <p:spPr>
          <a:xfrm>
            <a:off x="812800" y="2862659"/>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1EA"/>
                </a:solidFill>
                <a:latin typeface="IBM Plex Sans" pitchFamily="34" charset="0"/>
                <a:ea typeface="IBM Plex Sans" pitchFamily="34" charset="-122"/>
                <a:cs typeface="IBM Plex Sans" pitchFamily="34" charset="-120"/>
              </a:rPr>
              <a:t>Other EU countries</a:t>
            </a:r>
            <a:endParaRPr lang="en-US" sz="1600" dirty="0"/>
          </a:p>
        </p:txBody>
      </p:sp>
      <p:sp>
        <p:nvSpPr>
          <p:cNvPr id="5" name="Text 3"/>
          <p:cNvSpPr/>
          <p:nvPr/>
        </p:nvSpPr>
        <p:spPr>
          <a:xfrm>
            <a:off x="812800" y="3182640"/>
            <a:ext cx="3488233"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7BD"/>
                </a:solidFill>
                <a:latin typeface="IBM Plex Sans" pitchFamily="34" charset="0"/>
                <a:ea typeface="IBM Plex Sans" pitchFamily="34" charset="-122"/>
                <a:cs typeface="IBM Plex Sans" pitchFamily="34" charset="-120"/>
              </a:rPr>
              <a:t>Every member state keeps a similar register. Since May 2026, DIWASS adds EU-wide shipment data.</a:t>
            </a:r>
            <a:endParaRPr lang="en-US" sz="1400" dirty="0"/>
          </a:p>
        </p:txBody>
      </p:sp>
      <p:sp>
        <p:nvSpPr>
          <p:cNvPr id="6" name="Shape 4"/>
          <p:cNvSpPr/>
          <p:nvPr/>
        </p:nvSpPr>
        <p:spPr>
          <a:xfrm>
            <a:off x="4402634" y="2649934"/>
            <a:ext cx="3386733" cy="0"/>
          </a:xfrm>
          <a:prstGeom prst="line">
            <a:avLst/>
          </a:prstGeom>
          <a:noFill/>
          <a:ln w="19050">
            <a:solidFill>
              <a:srgbClr val="F08A5D"/>
            </a:solidFill>
            <a:prstDash val="solid"/>
          </a:ln>
        </p:spPr>
      </p:sp>
      <p:sp>
        <p:nvSpPr>
          <p:cNvPr id="7" name="Text 5"/>
          <p:cNvSpPr/>
          <p:nvPr/>
        </p:nvSpPr>
        <p:spPr>
          <a:xfrm>
            <a:off x="4402634" y="2862659"/>
            <a:ext cx="34883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1EA"/>
                </a:solidFill>
                <a:latin typeface="IBM Plex Sans" pitchFamily="34" charset="0"/>
                <a:ea typeface="IBM Plex Sans" pitchFamily="34" charset="-122"/>
                <a:cs typeface="IBM Plex Sans" pitchFamily="34" charset="-120"/>
              </a:rPr>
              <a:t>Other waste streams</a:t>
            </a:r>
            <a:endParaRPr lang="en-US" sz="1600" dirty="0"/>
          </a:p>
        </p:txBody>
      </p:sp>
      <p:sp>
        <p:nvSpPr>
          <p:cNvPr id="8" name="Text 6"/>
          <p:cNvSpPr/>
          <p:nvPr/>
        </p:nvSpPr>
        <p:spPr>
          <a:xfrm>
            <a:off x="4402634" y="3182640"/>
            <a:ext cx="3488335"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7BD"/>
                </a:solidFill>
                <a:latin typeface="IBM Plex Sans" pitchFamily="34" charset="0"/>
                <a:ea typeface="IBM Plex Sans" pitchFamily="34" charset="-122"/>
                <a:cs typeface="IBM Plex Sans" pitchFamily="34" charset="-120"/>
              </a:rPr>
              <a:t>The same engine works for electronics, tyres, batteries, solvents and sewage sludge.</a:t>
            </a:r>
            <a:endParaRPr lang="en-US" sz="1400" dirty="0"/>
          </a:p>
        </p:txBody>
      </p:sp>
      <p:sp>
        <p:nvSpPr>
          <p:cNvPr id="9" name="Shape 7"/>
          <p:cNvSpPr/>
          <p:nvPr/>
        </p:nvSpPr>
        <p:spPr>
          <a:xfrm>
            <a:off x="7992566" y="2649934"/>
            <a:ext cx="3386634" cy="0"/>
          </a:xfrm>
          <a:prstGeom prst="line">
            <a:avLst/>
          </a:prstGeom>
          <a:noFill/>
          <a:ln w="19050">
            <a:solidFill>
              <a:srgbClr val="F08A5D"/>
            </a:solidFill>
            <a:prstDash val="solid"/>
          </a:ln>
        </p:spPr>
      </p:sp>
      <p:sp>
        <p:nvSpPr>
          <p:cNvPr id="10" name="Text 8"/>
          <p:cNvSpPr/>
          <p:nvPr/>
        </p:nvSpPr>
        <p:spPr>
          <a:xfrm>
            <a:off x="7992566" y="2862659"/>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1EA"/>
                </a:solidFill>
                <a:latin typeface="IBM Plex Sans" pitchFamily="34" charset="0"/>
                <a:ea typeface="IBM Plex Sans" pitchFamily="34" charset="-122"/>
                <a:cs typeface="IBM Plex Sans" pitchFamily="34" charset="-120"/>
              </a:rPr>
              <a:t>Next steps</a:t>
            </a:r>
            <a:endParaRPr lang="en-US" sz="1600" dirty="0"/>
          </a:p>
        </p:txBody>
      </p:sp>
      <p:sp>
        <p:nvSpPr>
          <p:cNvPr id="11" name="Text 9"/>
          <p:cNvSpPr/>
          <p:nvPr/>
        </p:nvSpPr>
        <p:spPr>
          <a:xfrm>
            <a:off x="7992566" y="3182640"/>
            <a:ext cx="34882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7BD"/>
                </a:solidFill>
                <a:latin typeface="IBM Plex Sans" pitchFamily="34" charset="0"/>
                <a:ea typeface="IBM Plex Sans" pitchFamily="34" charset="-122"/>
                <a:cs typeface="IBM Plex Sans" pitchFamily="34" charset="-120"/>
              </a:rPr>
              <a:t>Request non-public register data, validate on known cases, run all years 2015–2025.</a:t>
            </a:r>
            <a:endParaRPr lang="en-US" sz="1400" dirty="0"/>
          </a:p>
        </p:txBody>
      </p:sp>
      <p:sp>
        <p:nvSpPr>
          <p:cNvPr id="12" name="Text 10"/>
          <p:cNvSpPr/>
          <p:nvPr/>
        </p:nvSpPr>
        <p:spPr>
          <a:xfrm>
            <a:off x="812800" y="5283200"/>
            <a:ext cx="2318742" cy="787400"/>
          </a:xfrm>
          <a:prstGeom prst="rect">
            <a:avLst/>
          </a:prstGeom>
          <a:noFill/>
          <a:ln/>
        </p:spPr>
        <p:txBody>
          <a:bodyPr wrap="square" lIns="0" tIns="0" rIns="0" bIns="0" rtlCol="0" anchor="t">
            <a:normAutofit/>
          </a:bodyPr>
          <a:lstStyle/>
          <a:p>
            <a:pPr algn="l" indent="0" marL="0">
              <a:lnSpc>
                <a:spcPts val="6000"/>
              </a:lnSpc>
              <a:buNone/>
            </a:pPr>
            <a:r>
              <a:rPr lang="en-US" sz="6000" b="1" spc="-100" kern="0" dirty="0">
                <a:solidFill>
                  <a:srgbClr val="F3F1EA"/>
                </a:solidFill>
                <a:latin typeface="IBM Plex Sans" pitchFamily="34" charset="0"/>
                <a:ea typeface="IBM Plex Sans" pitchFamily="34" charset="-122"/>
                <a:cs typeface="IBM Plex Sans" pitchFamily="34" charset="-120"/>
              </a:rPr>
              <a:t>TRAG</a:t>
            </a:r>
            <a:endParaRPr lang="en-US" sz="6000" dirty="0"/>
          </a:p>
        </p:txBody>
      </p:sp>
      <p:sp>
        <p:nvSpPr>
          <p:cNvPr id="13" name="Text 11"/>
          <p:cNvSpPr/>
          <p:nvPr/>
        </p:nvSpPr>
        <p:spPr>
          <a:xfrm>
            <a:off x="8562777" y="5796359"/>
            <a:ext cx="2816423"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F08A5D"/>
                </a:solidFill>
                <a:latin typeface="IBM Plex Mono" pitchFamily="49" charset="0"/>
                <a:ea typeface="IBM Plex Mono" pitchFamily="49" charset="-122"/>
                <a:cs typeface="IBM Plex Mono" pitchFamily="49" charset="-120"/>
              </a:rPr>
              <a:t>bartolgracin@gmail.com</a:t>
            </a:r>
            <a:endParaRPr lang="en-US" sz="1400" dirty="0"/>
          </a:p>
        </p:txBody>
      </p:sp>
    </p:spTree>
  </p:cSld>
  <p:clrMapOvr>
    <a:masterClrMapping/>
  </p:clrMapOvr>
</p:sld>
</file>

<file path=ppt/theme/theme1.xml><?xml version="1.0" encoding="utf-8"?>
<a:theme xmlns:a="http://schemas.openxmlformats.org/drawingml/2006/main" name="TRAG – Eureka 2026 semi-final">
  <a:themeElements>
    <a:clrScheme name="TRAG – Eureka 2026 semi-final">
      <a:dk1>
        <a:srgbClr val="1B2A31"/>
      </a:dk1>
      <a:lt1>
        <a:srgbClr val="F3F1EA"/>
      </a:lt1>
      <a:dk2>
        <a:srgbClr val="515C5F"/>
      </a:dk2>
      <a:lt2>
        <a:srgbClr val="DDDDD8"/>
      </a:lt2>
      <a:accent1>
        <a:srgbClr val="C4501F"/>
      </a:accent1>
      <a:accent2>
        <a:srgbClr val="F08A5D"/>
      </a:accent2>
      <a:accent3>
        <a:srgbClr val="5B6B72"/>
      </a:accent3>
      <a:accent4>
        <a:srgbClr val="A9B7BD"/>
      </a:accent4>
      <a:accent5>
        <a:srgbClr val="9AA0A6"/>
      </a:accent5>
      <a:accent6>
        <a:srgbClr val="717A7B"/>
      </a:accent6>
      <a:hlink>
        <a:srgbClr val="0563C1"/>
      </a:hlink>
      <a:folHlink>
        <a:srgbClr val="954F72"/>
      </a:folHlink>
    </a:clrScheme>
    <a:fontScheme name="TRAG – Eureka 2026 semi-final">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TRAG – Eureka 2026 semi-final</dc:title>
  <dc:subject/>
  <dc:creator/>
  <cp:lastModifiedBy/>
  <cp:revision>1</cp:revision>
  <dcterms:created xsi:type="dcterms:W3CDTF">2026-10-22T19:56:54Z</dcterms:created>
  <dcterms:modified xsi:type="dcterms:W3CDTF">2026-10-22T19:56:54Z</dcterms:modified>
</cp:coreProperties>
</file>